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75" r:id="rId3"/>
    <p:sldId id="276" r:id="rId4"/>
    <p:sldId id="279" r:id="rId5"/>
    <p:sldId id="286" r:id="rId6"/>
    <p:sldId id="287" r:id="rId7"/>
    <p:sldId id="288" r:id="rId8"/>
    <p:sldId id="277" r:id="rId9"/>
    <p:sldId id="282" r:id="rId10"/>
    <p:sldId id="281" r:id="rId11"/>
    <p:sldId id="278" r:id="rId12"/>
    <p:sldId id="280" r:id="rId13"/>
    <p:sldId id="289"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3B3B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E0061F-BFDE-7175-2EDA-F472504290F4}" v="789" dt="2020-12-24T05:43:13.3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434" autoAdjust="0"/>
  </p:normalViewPr>
  <p:slideViewPr>
    <p:cSldViewPr snapToGrid="0">
      <p:cViewPr varScale="1">
        <p:scale>
          <a:sx n="74" d="100"/>
          <a:sy n="74" d="100"/>
        </p:scale>
        <p:origin x="55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tr-TR" smtClean="0"/>
              <a:t>Asıl başlık stili için tıklatın</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tıklatın</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3/19/2021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49232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3/19/2021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4894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tr-TR" smtClean="0"/>
              <a:t>Asıl başlık stili için tıklatın</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C764DE79-268F-4C1A-8933-263129D2AF90}" type="datetimeFigureOut">
              <a:rPr lang="en-US" dirty="0"/>
              <a:t>3/19/2021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87173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t>3/19/2021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12881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tr-TR" smtClean="0"/>
              <a:t>Asıl başlık stili için tıklatın</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839788" y="2505075"/>
            <a:ext cx="5157787" cy="368458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6172200" y="2505075"/>
            <a:ext cx="5183188" cy="368458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7" name="Date Placeholder 6"/>
          <p:cNvSpPr>
            <a:spLocks noGrp="1"/>
          </p:cNvSpPr>
          <p:nvPr>
            <p:ph type="dt" sz="half" idx="10"/>
          </p:nvPr>
        </p:nvSpPr>
        <p:spPr/>
        <p:txBody>
          <a:bodyPr/>
          <a:lstStyle/>
          <a:p>
            <a:fld id="{C764DE79-268F-4C1A-8933-263129D2AF90}" type="datetimeFigureOut">
              <a:rPr lang="en-US" dirty="0"/>
              <a:t>3/19/2021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87126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Date Placeholder 2"/>
          <p:cNvSpPr>
            <a:spLocks noGrp="1"/>
          </p:cNvSpPr>
          <p:nvPr>
            <p:ph type="dt" sz="half" idx="10"/>
          </p:nvPr>
        </p:nvSpPr>
        <p:spPr/>
        <p:txBody>
          <a:bodyPr/>
          <a:lstStyle/>
          <a:p>
            <a:fld id="{C764DE79-268F-4C1A-8933-263129D2AF90}" type="datetimeFigureOut">
              <a:rPr lang="en-US" dirty="0"/>
              <a:t>3/19/2021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40621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47478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C764DE79-268F-4C1A-8933-263129D2AF90}" type="datetimeFigureOut">
              <a:rPr lang="en-US" dirty="0"/>
              <a:t>3/19/2021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35815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C764DE79-268F-4C1A-8933-263129D2AF90}" type="datetimeFigureOut">
              <a:rPr lang="en-US" dirty="0"/>
              <a:t>3/19/2021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25847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3/19/2021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54809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tr-TR" smtClean="0"/>
              <a:t>Asıl başlık stili için tıklatın</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3/19/2021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78620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smtClean="0"/>
              <a:t>Asıl başlık stili için tıklatın</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3/19/2021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22171821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DataGlacier/DataSets/blob/main/Customer_ID.csv" TargetMode="Externa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github.com/DataGlacier/DataSets/blob/main/Transaction_ID.csv" TargetMode="External"/><Relationship Id="rId5" Type="http://schemas.openxmlformats.org/officeDocument/2006/relationships/hyperlink" Target="https://github.com/DataGlacier/DataSets/blob/main/Cab_Data.csv" TargetMode="External"/><Relationship Id="rId4" Type="http://schemas.openxmlformats.org/officeDocument/2006/relationships/hyperlink" Target="https://github.com/DataGlacier/DataSets/blob/main/City.csv"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B3B3B"/>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841DC996-1A4B-4D4F-A733-3A00E5ABC2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332" y="0"/>
            <a:ext cx="2325467" cy="2325467"/>
          </a:xfrm>
          <a:prstGeom prst="rect">
            <a:avLst/>
          </a:prstGeom>
        </p:spPr>
      </p:pic>
      <p:sp>
        <p:nvSpPr>
          <p:cNvPr id="11" name="TextBox 10">
            <a:extLst>
              <a:ext uri="{FF2B5EF4-FFF2-40B4-BE49-F238E27FC236}">
                <a16:creationId xmlns="" xmlns:a16="http://schemas.microsoft.com/office/drawing/2014/main" id="{00CC22B5-8500-2C45-91DE-A596A6DF1C3B}"/>
              </a:ext>
            </a:extLst>
          </p:cNvPr>
          <p:cNvSpPr txBox="1"/>
          <p:nvPr/>
        </p:nvSpPr>
        <p:spPr>
          <a:xfrm>
            <a:off x="870857" y="2380343"/>
            <a:ext cx="5808000" cy="2831544"/>
          </a:xfrm>
          <a:prstGeom prst="rect">
            <a:avLst/>
          </a:prstGeom>
          <a:solidFill>
            <a:srgbClr val="3B3B3B"/>
          </a:solidFill>
        </p:spPr>
        <p:txBody>
          <a:bodyPr wrap="none" rtlCol="0">
            <a:spAutoFit/>
          </a:bodyPr>
          <a:lstStyle/>
          <a:p>
            <a:r>
              <a:rPr lang="tr-TR" sz="6600" dirty="0" smtClean="0">
                <a:solidFill>
                  <a:srgbClr val="FF6600"/>
                </a:solidFill>
              </a:rPr>
              <a:t>G2M Case </a:t>
            </a:r>
            <a:r>
              <a:rPr lang="tr-TR" sz="6600" dirty="0" err="1" smtClean="0">
                <a:solidFill>
                  <a:srgbClr val="FF6600"/>
                </a:solidFill>
              </a:rPr>
              <a:t>Study</a:t>
            </a:r>
            <a:endParaRPr lang="en-US" sz="6600" dirty="0">
              <a:solidFill>
                <a:srgbClr val="FF6600"/>
              </a:solidFill>
            </a:endParaRPr>
          </a:p>
          <a:p>
            <a:r>
              <a:rPr lang="en-US" sz="2800" dirty="0"/>
              <a:t>Name : </a:t>
            </a:r>
            <a:r>
              <a:rPr lang="tr-TR" sz="2800" dirty="0" smtClean="0"/>
              <a:t>Buse Küçükçoban</a:t>
            </a:r>
            <a:r>
              <a:rPr lang="en-US" sz="2800" dirty="0"/>
              <a:t/>
            </a:r>
            <a:br>
              <a:rPr lang="en-US" sz="2800" dirty="0"/>
            </a:br>
            <a:r>
              <a:rPr lang="en-US" sz="2800" dirty="0"/>
              <a:t>Location</a:t>
            </a:r>
            <a:r>
              <a:rPr lang="en-US" sz="2800" dirty="0" smtClean="0"/>
              <a:t>:</a:t>
            </a:r>
            <a:r>
              <a:rPr lang="tr-TR" sz="2800" dirty="0" smtClean="0"/>
              <a:t> </a:t>
            </a:r>
            <a:r>
              <a:rPr lang="tr-TR" sz="2800" dirty="0" err="1" smtClean="0"/>
              <a:t>Turkey</a:t>
            </a:r>
            <a:r>
              <a:rPr lang="en-US" sz="2800" dirty="0"/>
              <a:t/>
            </a:r>
            <a:br>
              <a:rPr lang="en-US" sz="2800" dirty="0"/>
            </a:br>
            <a:r>
              <a:rPr lang="en-US" sz="2800" dirty="0"/>
              <a:t>Team: Data and Analytics</a:t>
            </a:r>
            <a:br>
              <a:rPr lang="en-US" sz="2800" dirty="0"/>
            </a:br>
            <a:r>
              <a:rPr lang="en-US" sz="2800" dirty="0"/>
              <a:t>Date: </a:t>
            </a:r>
            <a:r>
              <a:rPr lang="en-US" sz="2800" dirty="0" smtClean="0"/>
              <a:t>1</a:t>
            </a:r>
            <a:r>
              <a:rPr lang="tr-TR" sz="2800" dirty="0" smtClean="0"/>
              <a:t>4</a:t>
            </a:r>
            <a:r>
              <a:rPr lang="en-US" sz="2800" dirty="0" smtClean="0"/>
              <a:t>-March-2021</a:t>
            </a:r>
            <a:endParaRPr lang="en-US" sz="2800" b="1"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F26E-9345-4747-9094-972E38700A17}"/>
              </a:ext>
            </a:extLst>
          </p:cNvPr>
          <p:cNvSpPr>
            <a:spLocks noGrp="1"/>
          </p:cNvSpPr>
          <p:nvPr>
            <p:ph type="ctrTitle"/>
          </p:nvPr>
        </p:nvSpPr>
        <p:spPr>
          <a:xfrm rot="5400000">
            <a:off x="5719118" y="-5719120"/>
            <a:ext cx="753761" cy="12192003"/>
          </a:xfrm>
          <a:solidFill>
            <a:srgbClr val="3B3B3B"/>
          </a:solidFill>
        </p:spPr>
        <p:txBody>
          <a:bodyPr vert="vert270" anchor="t" anchorCtr="0">
            <a:normAutofit/>
          </a:bodyPr>
          <a:lstStyle/>
          <a:p>
            <a:pPr algn="l"/>
            <a:r>
              <a:rPr lang="tr-TR" sz="4000" b="1" dirty="0" err="1" smtClean="0">
                <a:solidFill>
                  <a:srgbClr val="FF6600"/>
                </a:solidFill>
              </a:rPr>
              <a:t>Executive</a:t>
            </a:r>
            <a:r>
              <a:rPr lang="tr-TR" sz="4000" b="1" dirty="0" smtClean="0">
                <a:solidFill>
                  <a:srgbClr val="FF6600"/>
                </a:solidFill>
              </a:rPr>
              <a:t> </a:t>
            </a:r>
            <a:r>
              <a:rPr lang="tr-TR" sz="4000" b="1" dirty="0" err="1" smtClean="0">
                <a:solidFill>
                  <a:srgbClr val="FF6600"/>
                </a:solidFill>
              </a:rPr>
              <a:t>Summary</a:t>
            </a:r>
            <a:endParaRPr lang="en-US" sz="4000" b="1" dirty="0">
              <a:solidFill>
                <a:srgbClr val="FF6600"/>
              </a:solidFill>
            </a:endParaRPr>
          </a:p>
        </p:txBody>
      </p:sp>
      <p:pic>
        <p:nvPicPr>
          <p:cNvPr id="4" name="Picture 3">
            <a:extLst>
              <a:ext uri="{FF2B5EF4-FFF2-40B4-BE49-F238E27FC236}">
                <a16:creationId xmlns="" xmlns:a16="http://schemas.microsoft.com/office/drawing/2014/main" id="{7A465064-0714-5743-882B-8875105A7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8551" y="-123568"/>
            <a:ext cx="1643449" cy="1191939"/>
          </a:xfrm>
          <a:prstGeom prst="rect">
            <a:avLst/>
          </a:prstGeom>
        </p:spPr>
      </p:pic>
      <p:sp>
        <p:nvSpPr>
          <p:cNvPr id="3" name="Alt Başlık 2"/>
          <p:cNvSpPr>
            <a:spLocks noGrp="1"/>
          </p:cNvSpPr>
          <p:nvPr>
            <p:ph type="subTitle" idx="1"/>
          </p:nvPr>
        </p:nvSpPr>
        <p:spPr>
          <a:xfrm>
            <a:off x="140042" y="1068370"/>
            <a:ext cx="11376455" cy="5789630"/>
          </a:xfrm>
        </p:spPr>
        <p:txBody>
          <a:bodyPr>
            <a:normAutofit/>
          </a:bodyPr>
          <a:lstStyle/>
          <a:p>
            <a:pPr marL="342900" indent="-342900" algn="l">
              <a:buFont typeface="Arial" panose="020B0604020202020204" pitchFamily="34" charset="0"/>
              <a:buChar char="•"/>
            </a:pPr>
            <a:endParaRPr lang="tr-TR" dirty="0" smtClean="0"/>
          </a:p>
          <a:p>
            <a:pPr marL="342900" indent="-342900" algn="l">
              <a:buFont typeface="Arial" panose="020B0604020202020204" pitchFamily="34" charset="0"/>
              <a:buChar char="•"/>
            </a:pPr>
            <a:r>
              <a:rPr lang="en-US" dirty="0" smtClean="0"/>
              <a:t>XYZ </a:t>
            </a:r>
            <a:r>
              <a:rPr lang="en-US" dirty="0"/>
              <a:t>is a private firm in US. Due to remarkable growth in the Cab Industry in last few years and multiple key players in the market, it is planning for an investment in Cab </a:t>
            </a:r>
            <a:r>
              <a:rPr lang="en-US" dirty="0" smtClean="0"/>
              <a:t>industry</a:t>
            </a:r>
            <a:r>
              <a:rPr lang="tr-TR" dirty="0" smtClean="0"/>
              <a:t>.</a:t>
            </a:r>
          </a:p>
          <a:p>
            <a:pPr marL="342900" indent="-342900" algn="l">
              <a:buFont typeface="Arial" panose="020B0604020202020204" pitchFamily="34" charset="0"/>
              <a:buChar char="•"/>
            </a:pPr>
            <a:endParaRPr lang="tr-TR" dirty="0"/>
          </a:p>
          <a:p>
            <a:pPr marL="342900" indent="-342900" algn="l">
              <a:buFont typeface="Arial" panose="020B0604020202020204" pitchFamily="34" charset="0"/>
              <a:buChar char="•"/>
            </a:pPr>
            <a:endParaRPr lang="tr-TR" dirty="0" smtClean="0"/>
          </a:p>
          <a:p>
            <a:pPr marL="342900" indent="-342900" algn="l">
              <a:buFont typeface="Arial" panose="020B0604020202020204" pitchFamily="34" charset="0"/>
              <a:buChar char="•"/>
            </a:pPr>
            <a:r>
              <a:rPr lang="tr-TR" dirty="0" smtClean="0"/>
              <a:t>Analysis </a:t>
            </a:r>
            <a:r>
              <a:rPr lang="tr-TR" dirty="0" err="1" smtClean="0"/>
              <a:t>contains</a:t>
            </a:r>
            <a:r>
              <a:rPr lang="tr-TR" dirty="0" smtClean="0"/>
              <a:t> </a:t>
            </a:r>
            <a:r>
              <a:rPr lang="tr-TR" dirty="0" err="1" smtClean="0"/>
              <a:t>four</a:t>
            </a:r>
            <a:r>
              <a:rPr lang="tr-TR" dirty="0" smtClean="0"/>
              <a:t> </a:t>
            </a:r>
            <a:r>
              <a:rPr lang="tr-TR" dirty="0" err="1" smtClean="0"/>
              <a:t>parts</a:t>
            </a:r>
            <a:r>
              <a:rPr lang="tr-TR" dirty="0" smtClean="0"/>
              <a:t>:</a:t>
            </a:r>
          </a:p>
          <a:p>
            <a:pPr algn="l"/>
            <a:r>
              <a:rPr lang="en-US" dirty="0"/>
              <a:t>Data Understanding </a:t>
            </a:r>
            <a:endParaRPr lang="tr-TR" dirty="0"/>
          </a:p>
          <a:p>
            <a:pPr algn="l"/>
            <a:r>
              <a:rPr lang="tr-TR" dirty="0" smtClean="0"/>
              <a:t>F</a:t>
            </a:r>
            <a:r>
              <a:rPr lang="en-US" dirty="0" err="1" smtClean="0"/>
              <a:t>ind</a:t>
            </a:r>
            <a:r>
              <a:rPr lang="en-US" dirty="0" smtClean="0"/>
              <a:t> </a:t>
            </a:r>
            <a:r>
              <a:rPr lang="en-US" dirty="0"/>
              <a:t>and analyze relationships between </a:t>
            </a:r>
            <a:r>
              <a:rPr lang="tr-TR" dirty="0" err="1" smtClean="0"/>
              <a:t>features</a:t>
            </a:r>
            <a:r>
              <a:rPr lang="en-US" dirty="0"/>
              <a:t/>
            </a:r>
            <a:br>
              <a:rPr lang="en-US" dirty="0"/>
            </a:br>
            <a:r>
              <a:rPr lang="en-US" dirty="0" smtClean="0"/>
              <a:t>Recommendations </a:t>
            </a:r>
            <a:r>
              <a:rPr lang="en-US" dirty="0"/>
              <a:t>for </a:t>
            </a:r>
            <a:r>
              <a:rPr lang="tr-TR" dirty="0" err="1" smtClean="0"/>
              <a:t>cab</a:t>
            </a:r>
            <a:r>
              <a:rPr lang="tr-TR" dirty="0" smtClean="0"/>
              <a:t> </a:t>
            </a:r>
            <a:r>
              <a:rPr lang="en-US" dirty="0" smtClean="0"/>
              <a:t>investment</a:t>
            </a:r>
            <a:endParaRPr lang="en-US" dirty="0"/>
          </a:p>
          <a:p>
            <a:pPr marL="342900" indent="-342900" algn="l">
              <a:buFont typeface="Arial" panose="020B0604020202020204" pitchFamily="34" charset="0"/>
              <a:buChar char="•"/>
            </a:pPr>
            <a:endParaRPr lang="tr-TR" dirty="0"/>
          </a:p>
        </p:txBody>
      </p:sp>
    </p:spTree>
    <p:extLst>
      <p:ext uri="{BB962C8B-B14F-4D97-AF65-F5344CB8AC3E}">
        <p14:creationId xmlns:p14="http://schemas.microsoft.com/office/powerpoint/2010/main" val="2263712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F26E-9345-4747-9094-972E38700A17}"/>
              </a:ext>
            </a:extLst>
          </p:cNvPr>
          <p:cNvSpPr>
            <a:spLocks noGrp="1"/>
          </p:cNvSpPr>
          <p:nvPr>
            <p:ph type="ctrTitle"/>
          </p:nvPr>
        </p:nvSpPr>
        <p:spPr>
          <a:xfrm rot="5400000">
            <a:off x="5719118" y="-5719120"/>
            <a:ext cx="753761" cy="12192003"/>
          </a:xfrm>
          <a:solidFill>
            <a:srgbClr val="3B3B3B"/>
          </a:solidFill>
        </p:spPr>
        <p:txBody>
          <a:bodyPr vert="vert270" anchor="t" anchorCtr="0">
            <a:normAutofit/>
          </a:bodyPr>
          <a:lstStyle/>
          <a:p>
            <a:pPr algn="l"/>
            <a:r>
              <a:rPr lang="tr-TR" sz="4000" b="1" dirty="0" smtClean="0">
                <a:solidFill>
                  <a:srgbClr val="FF6600"/>
                </a:solidFill>
              </a:rPr>
              <a:t>Data Exploration</a:t>
            </a:r>
            <a:endParaRPr lang="en-US" sz="4000" b="1" dirty="0">
              <a:solidFill>
                <a:srgbClr val="FF6600"/>
              </a:solidFill>
            </a:endParaRPr>
          </a:p>
        </p:txBody>
      </p:sp>
      <p:pic>
        <p:nvPicPr>
          <p:cNvPr id="4" name="Picture 3">
            <a:extLst>
              <a:ext uri="{FF2B5EF4-FFF2-40B4-BE49-F238E27FC236}">
                <a16:creationId xmlns="" xmlns:a16="http://schemas.microsoft.com/office/drawing/2014/main" id="{7A465064-0714-5743-882B-8875105A7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8551" y="-123568"/>
            <a:ext cx="1643449" cy="1191939"/>
          </a:xfrm>
          <a:prstGeom prst="rect">
            <a:avLst/>
          </a:prstGeom>
        </p:spPr>
      </p:pic>
      <p:sp>
        <p:nvSpPr>
          <p:cNvPr id="3" name="Alt Başlık 2"/>
          <p:cNvSpPr>
            <a:spLocks noGrp="1"/>
          </p:cNvSpPr>
          <p:nvPr>
            <p:ph type="subTitle" idx="1"/>
          </p:nvPr>
        </p:nvSpPr>
        <p:spPr>
          <a:xfrm>
            <a:off x="263611" y="1254254"/>
            <a:ext cx="11240530" cy="5406037"/>
          </a:xfrm>
        </p:spPr>
        <p:txBody>
          <a:bodyPr>
            <a:normAutofit/>
          </a:bodyPr>
          <a:lstStyle/>
          <a:p>
            <a:pPr marL="285750" indent="-285750" algn="l">
              <a:buFont typeface="Arial" panose="020B0604020202020204" pitchFamily="34" charset="0"/>
              <a:buChar char="•"/>
            </a:pPr>
            <a:r>
              <a:rPr lang="en-US" dirty="0"/>
              <a:t>Timeframe of the data: 2016-01-31 to 2018-12-31</a:t>
            </a:r>
          </a:p>
          <a:p>
            <a:pPr marL="285750" indent="-285750" algn="l">
              <a:buFont typeface="Arial" panose="020B0604020202020204" pitchFamily="34" charset="0"/>
              <a:buChar char="•"/>
            </a:pPr>
            <a:r>
              <a:rPr lang="en-US" dirty="0"/>
              <a:t>Total data points :</a:t>
            </a:r>
            <a:r>
              <a:rPr lang="en-US" dirty="0" smtClean="0"/>
              <a:t>35</a:t>
            </a:r>
            <a:r>
              <a:rPr lang="tr-TR" dirty="0" smtClean="0"/>
              <a:t>9</a:t>
            </a:r>
            <a:r>
              <a:rPr lang="en-US" dirty="0" smtClean="0"/>
              <a:t>,</a:t>
            </a:r>
            <a:r>
              <a:rPr lang="tr-TR" dirty="0" smtClean="0"/>
              <a:t>393</a:t>
            </a:r>
          </a:p>
          <a:p>
            <a:pPr marL="285750" indent="-285750" algn="l">
              <a:buFont typeface="Arial" panose="020B0604020202020204" pitchFamily="34" charset="0"/>
              <a:buChar char="•"/>
            </a:pPr>
            <a:r>
              <a:rPr lang="tr-TR" dirty="0" err="1" smtClean="0"/>
              <a:t>Our</a:t>
            </a:r>
            <a:r>
              <a:rPr lang="tr-TR" dirty="0" smtClean="0"/>
              <a:t> final data =  </a:t>
            </a:r>
            <a:r>
              <a:rPr lang="tr-TR" dirty="0">
                <a:hlinkClick r:id="rId3" tooltip="Customer_ID.csv"/>
              </a:rPr>
              <a:t>Customer_ID.csv</a:t>
            </a:r>
            <a:r>
              <a:rPr lang="tr-TR" dirty="0"/>
              <a:t> + </a:t>
            </a:r>
            <a:r>
              <a:rPr lang="tr-TR" dirty="0">
                <a:hlinkClick r:id="rId4" tooltip="City.csv"/>
              </a:rPr>
              <a:t>City.csv</a:t>
            </a:r>
            <a:r>
              <a:rPr lang="tr-TR" dirty="0"/>
              <a:t> + </a:t>
            </a:r>
            <a:r>
              <a:rPr lang="tr-TR" dirty="0">
                <a:hlinkClick r:id="rId5" tooltip="Cab_Data.csv"/>
              </a:rPr>
              <a:t>Cab_Data.csv</a:t>
            </a:r>
            <a:r>
              <a:rPr lang="tr-TR" dirty="0"/>
              <a:t> + </a:t>
            </a:r>
            <a:r>
              <a:rPr lang="tr-TR" dirty="0" smtClean="0">
                <a:hlinkClick r:id="rId6" tooltip="Transaction_ID.csv"/>
              </a:rPr>
              <a:t>Transaction_ID.csv</a:t>
            </a:r>
            <a:endParaRPr lang="tr-TR" dirty="0" smtClean="0"/>
          </a:p>
          <a:p>
            <a:pPr marL="285750" indent="-285750" algn="l">
              <a:buFont typeface="Arial" panose="020B0604020202020204" pitchFamily="34" charset="0"/>
              <a:buChar char="•"/>
            </a:pPr>
            <a:endParaRPr lang="tr-TR" dirty="0"/>
          </a:p>
          <a:p>
            <a:pPr marL="285750" indent="-285750" algn="l">
              <a:buFont typeface="Arial" panose="020B0604020202020204" pitchFamily="34" charset="0"/>
              <a:buChar char="•"/>
            </a:pPr>
            <a:r>
              <a:rPr lang="tr-TR" dirty="0" err="1" smtClean="0"/>
              <a:t>Assumptions</a:t>
            </a:r>
            <a:r>
              <a:rPr lang="tr-TR" dirty="0" smtClean="0"/>
              <a:t>:</a:t>
            </a:r>
          </a:p>
          <a:p>
            <a:pPr algn="l"/>
            <a:r>
              <a:rPr lang="en-US" dirty="0" smtClean="0"/>
              <a:t>Outliers are present in </a:t>
            </a:r>
            <a:r>
              <a:rPr lang="en-US" dirty="0" err="1" smtClean="0"/>
              <a:t>Price_Charged</a:t>
            </a:r>
            <a:r>
              <a:rPr lang="en-US" dirty="0" smtClean="0"/>
              <a:t> feature but due t</a:t>
            </a:r>
            <a:r>
              <a:rPr lang="tr-TR" dirty="0" smtClean="0"/>
              <a:t>o</a:t>
            </a:r>
            <a:r>
              <a:rPr lang="en-US" dirty="0" smtClean="0"/>
              <a:t>  unavailability of trip duration details ,we </a:t>
            </a:r>
            <a:r>
              <a:rPr lang="en-US" dirty="0" err="1" smtClean="0"/>
              <a:t>we</a:t>
            </a:r>
            <a:r>
              <a:rPr lang="en-US" dirty="0" smtClean="0"/>
              <a:t> </a:t>
            </a:r>
            <a:r>
              <a:rPr lang="en-US" dirty="0"/>
              <a:t>did not </a:t>
            </a:r>
            <a:r>
              <a:rPr lang="tr-TR" dirty="0" err="1" smtClean="0"/>
              <a:t>treat</a:t>
            </a:r>
            <a:r>
              <a:rPr lang="tr-TR" dirty="0" smtClean="0"/>
              <a:t> </a:t>
            </a:r>
            <a:r>
              <a:rPr lang="en-US" dirty="0" smtClean="0"/>
              <a:t>any value</a:t>
            </a:r>
            <a:r>
              <a:rPr lang="tr-TR" dirty="0" smtClean="0"/>
              <a:t> as </a:t>
            </a:r>
            <a:r>
              <a:rPr lang="tr-TR" dirty="0" err="1" smtClean="0"/>
              <a:t>outlier</a:t>
            </a:r>
            <a:r>
              <a:rPr lang="tr-TR" dirty="0" smtClean="0"/>
              <a:t>.</a:t>
            </a:r>
            <a:r>
              <a:rPr lang="en-US" dirty="0"/>
              <a:t/>
            </a:r>
            <a:br>
              <a:rPr lang="en-US" dirty="0"/>
            </a:br>
            <a:endParaRPr lang="en-US" dirty="0"/>
          </a:p>
          <a:p>
            <a:pPr algn="l"/>
            <a:r>
              <a:rPr lang="tr-TR" dirty="0" err="1" smtClean="0"/>
              <a:t>To</a:t>
            </a:r>
            <a:r>
              <a:rPr lang="tr-TR" dirty="0" smtClean="0"/>
              <a:t> </a:t>
            </a:r>
            <a:r>
              <a:rPr lang="tr-TR" dirty="0" err="1" smtClean="0"/>
              <a:t>calculate</a:t>
            </a:r>
            <a:r>
              <a:rPr lang="tr-TR" dirty="0" smtClean="0"/>
              <a:t> </a:t>
            </a:r>
            <a:r>
              <a:rPr lang="tr-TR" dirty="0" err="1" smtClean="0"/>
              <a:t>profit</a:t>
            </a:r>
            <a:r>
              <a:rPr lang="tr-TR" dirty="0" smtClean="0"/>
              <a:t>, </a:t>
            </a:r>
            <a:r>
              <a:rPr lang="tr-TR" dirty="0" err="1" smtClean="0"/>
              <a:t>we</a:t>
            </a:r>
            <a:r>
              <a:rPr lang="tr-TR" dirty="0" smtClean="0"/>
              <a:t> </a:t>
            </a:r>
            <a:r>
              <a:rPr lang="tr-TR" dirty="0" err="1" smtClean="0"/>
              <a:t>used</a:t>
            </a:r>
            <a:r>
              <a:rPr lang="en-US" dirty="0" smtClean="0"/>
              <a:t> Price</a:t>
            </a:r>
            <a:r>
              <a:rPr lang="tr-TR" dirty="0" smtClean="0"/>
              <a:t> </a:t>
            </a:r>
            <a:r>
              <a:rPr lang="en-US" dirty="0" smtClean="0"/>
              <a:t>Charged </a:t>
            </a:r>
            <a:r>
              <a:rPr lang="en-US" dirty="0"/>
              <a:t>and </a:t>
            </a:r>
            <a:r>
              <a:rPr lang="en-US" dirty="0" smtClean="0"/>
              <a:t>Cost</a:t>
            </a:r>
            <a:r>
              <a:rPr lang="tr-TR" dirty="0" smtClean="0"/>
              <a:t> </a:t>
            </a:r>
            <a:r>
              <a:rPr lang="en-US" dirty="0" smtClean="0"/>
              <a:t>of</a:t>
            </a:r>
            <a:r>
              <a:rPr lang="tr-TR" dirty="0" smtClean="0"/>
              <a:t> </a:t>
            </a:r>
            <a:r>
              <a:rPr lang="en-US" dirty="0" smtClean="0"/>
              <a:t>Trip </a:t>
            </a:r>
            <a:r>
              <a:rPr lang="en-US" dirty="0" smtClean="0"/>
              <a:t>features</a:t>
            </a:r>
            <a:r>
              <a:rPr lang="tr-TR" dirty="0"/>
              <a:t> </a:t>
            </a:r>
            <a:r>
              <a:rPr lang="tr-TR" dirty="0" err="1" smtClean="0"/>
              <a:t>and</a:t>
            </a:r>
            <a:r>
              <a:rPr lang="tr-TR" dirty="0" smtClean="0"/>
              <a:t> </a:t>
            </a:r>
            <a:r>
              <a:rPr lang="tr-TR" dirty="0" err="1" smtClean="0"/>
              <a:t>evaluate</a:t>
            </a:r>
            <a:r>
              <a:rPr lang="tr-TR" dirty="0" smtClean="0"/>
              <a:t> </a:t>
            </a:r>
            <a:r>
              <a:rPr lang="tr-TR" dirty="0" err="1" smtClean="0"/>
              <a:t>profit</a:t>
            </a:r>
            <a:r>
              <a:rPr lang="tr-TR" dirty="0" smtClean="0"/>
              <a:t> </a:t>
            </a:r>
            <a:r>
              <a:rPr lang="tr-TR" dirty="0" err="1" smtClean="0"/>
              <a:t>for</a:t>
            </a:r>
            <a:r>
              <a:rPr lang="tr-TR" dirty="0" smtClean="0"/>
              <a:t> </a:t>
            </a:r>
            <a:r>
              <a:rPr lang="tr-TR" dirty="0" err="1" smtClean="0"/>
              <a:t>per</a:t>
            </a:r>
            <a:r>
              <a:rPr lang="tr-TR" dirty="0" smtClean="0"/>
              <a:t> KM.</a:t>
            </a:r>
            <a:endParaRPr lang="tr-TR" dirty="0" smtClean="0"/>
          </a:p>
          <a:p>
            <a:pPr algn="l"/>
            <a:endParaRPr lang="tr-TR" dirty="0"/>
          </a:p>
          <a:p>
            <a:pPr algn="l"/>
            <a:endParaRPr lang="en-US" dirty="0"/>
          </a:p>
          <a:p>
            <a:pPr algn="l"/>
            <a:endParaRPr lang="en-US" dirty="0" smtClean="0"/>
          </a:p>
          <a:p>
            <a:pPr algn="l"/>
            <a:endParaRPr lang="tr-TR" dirty="0"/>
          </a:p>
        </p:txBody>
      </p:sp>
    </p:spTree>
    <p:extLst>
      <p:ext uri="{BB962C8B-B14F-4D97-AF65-F5344CB8AC3E}">
        <p14:creationId xmlns:p14="http://schemas.microsoft.com/office/powerpoint/2010/main" val="3272018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F26E-9345-4747-9094-972E38700A17}"/>
              </a:ext>
            </a:extLst>
          </p:cNvPr>
          <p:cNvSpPr>
            <a:spLocks noGrp="1"/>
          </p:cNvSpPr>
          <p:nvPr>
            <p:ph type="ctrTitle"/>
          </p:nvPr>
        </p:nvSpPr>
        <p:spPr>
          <a:xfrm rot="5400000">
            <a:off x="5719118" y="-5719120"/>
            <a:ext cx="753761" cy="12192003"/>
          </a:xfrm>
          <a:solidFill>
            <a:srgbClr val="3B3B3B"/>
          </a:solidFill>
        </p:spPr>
        <p:txBody>
          <a:bodyPr vert="vert270" anchor="t" anchorCtr="0">
            <a:normAutofit fontScale="90000"/>
          </a:bodyPr>
          <a:lstStyle/>
          <a:p>
            <a:pPr algn="l"/>
            <a:r>
              <a:rPr lang="tr-TR" sz="4000" b="1" dirty="0" smtClean="0">
                <a:solidFill>
                  <a:srgbClr val="FF6600"/>
                </a:solidFill>
              </a:rPr>
              <a:t>Profit Analysis</a:t>
            </a:r>
            <a:br>
              <a:rPr lang="tr-TR" sz="4000" b="1" dirty="0" smtClean="0">
                <a:solidFill>
                  <a:srgbClr val="FF6600"/>
                </a:solidFill>
              </a:rPr>
            </a:br>
            <a:endParaRPr lang="en-US" sz="4000" b="1" dirty="0">
              <a:solidFill>
                <a:srgbClr val="FF6600"/>
              </a:solidFill>
            </a:endParaRPr>
          </a:p>
        </p:txBody>
      </p:sp>
      <p:pic>
        <p:nvPicPr>
          <p:cNvPr id="4" name="Picture 3">
            <a:extLst>
              <a:ext uri="{FF2B5EF4-FFF2-40B4-BE49-F238E27FC236}">
                <a16:creationId xmlns="" xmlns:a16="http://schemas.microsoft.com/office/drawing/2014/main" id="{7A465064-0714-5743-882B-8875105A7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8551" y="-123568"/>
            <a:ext cx="1643449" cy="1191939"/>
          </a:xfrm>
          <a:prstGeom prst="rect">
            <a:avLst/>
          </a:prstGeom>
        </p:spPr>
      </p:pic>
      <p:sp>
        <p:nvSpPr>
          <p:cNvPr id="3" name="Alt Başlık 2"/>
          <p:cNvSpPr>
            <a:spLocks noGrp="1"/>
          </p:cNvSpPr>
          <p:nvPr>
            <p:ph type="subTitle" idx="1"/>
          </p:nvPr>
        </p:nvSpPr>
        <p:spPr>
          <a:xfrm>
            <a:off x="7453183" y="1797951"/>
            <a:ext cx="3766752" cy="4429853"/>
          </a:xfrm>
        </p:spPr>
        <p:txBody>
          <a:bodyPr>
            <a:normAutofit/>
          </a:bodyPr>
          <a:lstStyle/>
          <a:p>
            <a:pPr marL="342900" indent="-342900" algn="l">
              <a:buFont typeface="Arial" panose="020B0604020202020204" pitchFamily="34" charset="0"/>
              <a:buChar char="•"/>
            </a:pPr>
            <a:r>
              <a:rPr lang="en-US" sz="2000" dirty="0"/>
              <a:t>In the 4th quarter in 3 years, the maximum km in both </a:t>
            </a:r>
            <a:r>
              <a:rPr lang="en-US" sz="2000" dirty="0" smtClean="0"/>
              <a:t>companies</a:t>
            </a:r>
            <a:r>
              <a:rPr lang="tr-TR" sz="2000" dirty="0" smtClean="0"/>
              <a:t>, but </a:t>
            </a:r>
            <a:r>
              <a:rPr lang="en-US" sz="2000" dirty="0" smtClean="0"/>
              <a:t>Yellow</a:t>
            </a:r>
            <a:r>
              <a:rPr lang="tr-TR" sz="2000" dirty="0" smtClean="0"/>
              <a:t> </a:t>
            </a:r>
            <a:r>
              <a:rPr lang="tr-TR" sz="2000" dirty="0" err="1" smtClean="0"/>
              <a:t>Cab</a:t>
            </a:r>
            <a:r>
              <a:rPr lang="en-US" sz="2000" dirty="0" smtClean="0"/>
              <a:t> </a:t>
            </a:r>
            <a:r>
              <a:rPr lang="tr-TR" sz="2000" dirty="0" smtClean="0"/>
              <a:t>C</a:t>
            </a:r>
            <a:r>
              <a:rPr lang="en-US" sz="2000" dirty="0" err="1" smtClean="0"/>
              <a:t>ompany</a:t>
            </a:r>
            <a:r>
              <a:rPr lang="en-US" sz="2000" dirty="0" smtClean="0"/>
              <a:t> about 3 times more </a:t>
            </a:r>
            <a:r>
              <a:rPr lang="tr-TR" sz="2000" dirty="0" smtClean="0"/>
              <a:t>km</a:t>
            </a:r>
            <a:r>
              <a:rPr lang="en-US" sz="2000" dirty="0" smtClean="0"/>
              <a:t> each year than </a:t>
            </a:r>
            <a:r>
              <a:rPr lang="tr-TR" sz="2000" dirty="0" smtClean="0"/>
              <a:t>P</a:t>
            </a:r>
            <a:r>
              <a:rPr lang="en-US" sz="2000" dirty="0" smtClean="0"/>
              <a:t>ink</a:t>
            </a:r>
            <a:r>
              <a:rPr lang="tr-TR" sz="2000" dirty="0" smtClean="0"/>
              <a:t> </a:t>
            </a:r>
            <a:r>
              <a:rPr lang="tr-TR" sz="2000" dirty="0" err="1" smtClean="0"/>
              <a:t>Cab</a:t>
            </a:r>
            <a:r>
              <a:rPr lang="tr-TR" sz="2000" dirty="0" smtClean="0"/>
              <a:t> </a:t>
            </a:r>
            <a:r>
              <a:rPr lang="tr-TR" sz="2000" dirty="0" err="1" smtClean="0"/>
              <a:t>Company</a:t>
            </a:r>
            <a:r>
              <a:rPr lang="tr-TR" sz="2000" dirty="0" smtClean="0"/>
              <a:t>.</a:t>
            </a:r>
            <a:r>
              <a:rPr lang="en-US" sz="2000" dirty="0" smtClean="0"/>
              <a:t/>
            </a:r>
            <a:br>
              <a:rPr lang="en-US" sz="2000" dirty="0" smtClean="0"/>
            </a:br>
            <a:r>
              <a:rPr lang="en-US" sz="2000" dirty="0" smtClean="0"/>
              <a:t/>
            </a:r>
            <a:br>
              <a:rPr lang="en-US" sz="2000" dirty="0" smtClean="0"/>
            </a:br>
            <a:r>
              <a:rPr lang="en-US" sz="2000" dirty="0" smtClean="0"/>
              <a:t/>
            </a:r>
            <a:br>
              <a:rPr lang="en-US" sz="2000" dirty="0" smtClean="0"/>
            </a:br>
            <a:endParaRPr lang="tr-TR" sz="2000" dirty="0"/>
          </a:p>
        </p:txBody>
      </p:sp>
      <p:pic>
        <p:nvPicPr>
          <p:cNvPr id="6" name="Resim 5"/>
          <p:cNvPicPr>
            <a:picLocks noChangeAspect="1"/>
          </p:cNvPicPr>
          <p:nvPr/>
        </p:nvPicPr>
        <p:blipFill>
          <a:blip r:embed="rId3"/>
          <a:stretch>
            <a:fillRect/>
          </a:stretch>
        </p:blipFill>
        <p:spPr>
          <a:xfrm>
            <a:off x="330543" y="1068371"/>
            <a:ext cx="6910516" cy="5486400"/>
          </a:xfrm>
          <a:prstGeom prst="rect">
            <a:avLst/>
          </a:prstGeom>
        </p:spPr>
      </p:pic>
    </p:spTree>
    <p:extLst>
      <p:ext uri="{BB962C8B-B14F-4D97-AF65-F5344CB8AC3E}">
        <p14:creationId xmlns:p14="http://schemas.microsoft.com/office/powerpoint/2010/main" val="2710947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F26E-9345-4747-9094-972E38700A17}"/>
              </a:ext>
            </a:extLst>
          </p:cNvPr>
          <p:cNvSpPr>
            <a:spLocks noGrp="1"/>
          </p:cNvSpPr>
          <p:nvPr>
            <p:ph type="ctrTitle"/>
          </p:nvPr>
        </p:nvSpPr>
        <p:spPr>
          <a:xfrm rot="5400000">
            <a:off x="5719118" y="-5719120"/>
            <a:ext cx="753761" cy="12192003"/>
          </a:xfrm>
          <a:solidFill>
            <a:srgbClr val="3B3B3B"/>
          </a:solidFill>
        </p:spPr>
        <p:txBody>
          <a:bodyPr vert="vert270" anchor="t" anchorCtr="0">
            <a:normAutofit/>
          </a:bodyPr>
          <a:lstStyle/>
          <a:p>
            <a:pPr algn="l"/>
            <a:r>
              <a:rPr lang="tr-TR" sz="4000" b="1" dirty="0" smtClean="0">
                <a:solidFill>
                  <a:srgbClr val="FF6600"/>
                </a:solidFill>
              </a:rPr>
              <a:t>Profit Analysis </a:t>
            </a:r>
            <a:r>
              <a:rPr lang="tr-TR" sz="4000" b="1" dirty="0" err="1" smtClean="0">
                <a:solidFill>
                  <a:srgbClr val="FF6600"/>
                </a:solidFill>
              </a:rPr>
              <a:t>for</a:t>
            </a:r>
            <a:r>
              <a:rPr lang="tr-TR" sz="4000" b="1" dirty="0" smtClean="0">
                <a:solidFill>
                  <a:srgbClr val="FF6600"/>
                </a:solidFill>
              </a:rPr>
              <a:t> </a:t>
            </a:r>
            <a:r>
              <a:rPr lang="tr-TR" sz="4000" b="1" dirty="0" err="1" smtClean="0">
                <a:solidFill>
                  <a:srgbClr val="FF6600"/>
                </a:solidFill>
              </a:rPr>
              <a:t>per</a:t>
            </a:r>
            <a:r>
              <a:rPr lang="tr-TR" sz="4000" b="1" dirty="0" smtClean="0">
                <a:solidFill>
                  <a:srgbClr val="FF6600"/>
                </a:solidFill>
              </a:rPr>
              <a:t> km</a:t>
            </a:r>
            <a:endParaRPr lang="en-US" sz="4000" b="1" dirty="0">
              <a:solidFill>
                <a:srgbClr val="FF6600"/>
              </a:solidFill>
            </a:endParaRPr>
          </a:p>
        </p:txBody>
      </p:sp>
      <p:pic>
        <p:nvPicPr>
          <p:cNvPr id="4" name="Picture 3">
            <a:extLst>
              <a:ext uri="{FF2B5EF4-FFF2-40B4-BE49-F238E27FC236}">
                <a16:creationId xmlns="" xmlns:a16="http://schemas.microsoft.com/office/drawing/2014/main" id="{7A465064-0714-5743-882B-8875105A7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8551" y="-123568"/>
            <a:ext cx="1643449" cy="1191939"/>
          </a:xfrm>
          <a:prstGeom prst="rect">
            <a:avLst/>
          </a:prstGeom>
        </p:spPr>
      </p:pic>
      <p:sp>
        <p:nvSpPr>
          <p:cNvPr id="3" name="Alt Başlık 2"/>
          <p:cNvSpPr>
            <a:spLocks noGrp="1"/>
          </p:cNvSpPr>
          <p:nvPr>
            <p:ph type="subTitle" idx="1"/>
          </p:nvPr>
        </p:nvSpPr>
        <p:spPr>
          <a:xfrm>
            <a:off x="7587049" y="1254255"/>
            <a:ext cx="3917092" cy="2193280"/>
          </a:xfrm>
        </p:spPr>
        <p:txBody>
          <a:bodyPr>
            <a:normAutofit/>
          </a:bodyPr>
          <a:lstStyle/>
          <a:p>
            <a:pPr marL="342900" indent="-342900" algn="l">
              <a:buFont typeface="Arial" panose="020B0604020202020204" pitchFamily="34" charset="0"/>
              <a:buChar char="•"/>
            </a:pPr>
            <a:r>
              <a:rPr lang="en-US" dirty="0"/>
              <a:t>When we look at the years, the </a:t>
            </a:r>
            <a:r>
              <a:rPr lang="tr-TR" dirty="0" err="1" smtClean="0"/>
              <a:t>profit</a:t>
            </a:r>
            <a:r>
              <a:rPr lang="en-US" dirty="0" smtClean="0"/>
              <a:t> </a:t>
            </a:r>
            <a:r>
              <a:rPr lang="en-US" dirty="0"/>
              <a:t>per km is more in </a:t>
            </a:r>
            <a:r>
              <a:rPr lang="tr-TR" dirty="0"/>
              <a:t>Y</a:t>
            </a:r>
            <a:r>
              <a:rPr lang="en-US" dirty="0" err="1" smtClean="0"/>
              <a:t>ellow</a:t>
            </a:r>
            <a:r>
              <a:rPr lang="tr-TR" dirty="0" smtClean="0"/>
              <a:t> </a:t>
            </a:r>
            <a:r>
              <a:rPr lang="tr-TR" dirty="0" err="1" smtClean="0"/>
              <a:t>Cab</a:t>
            </a:r>
            <a:r>
              <a:rPr lang="tr-TR" dirty="0" smtClean="0"/>
              <a:t> </a:t>
            </a:r>
            <a:r>
              <a:rPr lang="tr-TR" dirty="0" err="1" smtClean="0"/>
              <a:t>Company</a:t>
            </a:r>
            <a:r>
              <a:rPr lang="en-US" dirty="0" smtClean="0"/>
              <a:t>.</a:t>
            </a:r>
            <a:r>
              <a:rPr lang="en-US" dirty="0"/>
              <a:t/>
            </a:r>
            <a:br>
              <a:rPr lang="en-US" dirty="0"/>
            </a:br>
            <a:endParaRPr lang="tr-TR" dirty="0"/>
          </a:p>
        </p:txBody>
      </p:sp>
      <p:pic>
        <p:nvPicPr>
          <p:cNvPr id="7" name="Resim 6"/>
          <p:cNvPicPr>
            <a:picLocks noChangeAspect="1"/>
          </p:cNvPicPr>
          <p:nvPr/>
        </p:nvPicPr>
        <p:blipFill>
          <a:blip r:embed="rId3"/>
          <a:stretch>
            <a:fillRect/>
          </a:stretch>
        </p:blipFill>
        <p:spPr>
          <a:xfrm>
            <a:off x="263998" y="877331"/>
            <a:ext cx="6915278" cy="5534025"/>
          </a:xfrm>
          <a:prstGeom prst="rect">
            <a:avLst/>
          </a:prstGeom>
        </p:spPr>
      </p:pic>
      <p:sp>
        <p:nvSpPr>
          <p:cNvPr id="5" name="Dikdörtgen 4"/>
          <p:cNvSpPr/>
          <p:nvPr/>
        </p:nvSpPr>
        <p:spPr>
          <a:xfrm>
            <a:off x="263997" y="877331"/>
            <a:ext cx="7038845" cy="3089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1424015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F26E-9345-4747-9094-972E38700A17}"/>
              </a:ext>
            </a:extLst>
          </p:cNvPr>
          <p:cNvSpPr>
            <a:spLocks noGrp="1"/>
          </p:cNvSpPr>
          <p:nvPr>
            <p:ph type="ctrTitle"/>
          </p:nvPr>
        </p:nvSpPr>
        <p:spPr>
          <a:xfrm rot="5400000">
            <a:off x="5719118" y="-5719120"/>
            <a:ext cx="753761" cy="12192003"/>
          </a:xfrm>
          <a:solidFill>
            <a:srgbClr val="3B3B3B"/>
          </a:solidFill>
        </p:spPr>
        <p:txBody>
          <a:bodyPr vert="vert270" anchor="t" anchorCtr="0">
            <a:normAutofit/>
          </a:bodyPr>
          <a:lstStyle/>
          <a:p>
            <a:pPr algn="l"/>
            <a:r>
              <a:rPr lang="tr-TR" sz="4000" b="1" dirty="0" err="1" smtClean="0">
                <a:solidFill>
                  <a:srgbClr val="FF6600"/>
                </a:solidFill>
              </a:rPr>
              <a:t>Number</a:t>
            </a:r>
            <a:r>
              <a:rPr lang="tr-TR" sz="4000" b="1" dirty="0" smtClean="0">
                <a:solidFill>
                  <a:srgbClr val="FF6600"/>
                </a:solidFill>
              </a:rPr>
              <a:t> of </a:t>
            </a:r>
            <a:r>
              <a:rPr lang="tr-TR" sz="4000" b="1" dirty="0" err="1" smtClean="0">
                <a:solidFill>
                  <a:srgbClr val="FF6600"/>
                </a:solidFill>
              </a:rPr>
              <a:t>users</a:t>
            </a:r>
            <a:r>
              <a:rPr lang="tr-TR" sz="4000" b="1" dirty="0" smtClean="0">
                <a:solidFill>
                  <a:srgbClr val="FF6600"/>
                </a:solidFill>
              </a:rPr>
              <a:t> </a:t>
            </a:r>
            <a:r>
              <a:rPr lang="tr-TR" sz="4000" b="1" dirty="0" err="1" smtClean="0">
                <a:solidFill>
                  <a:srgbClr val="FF6600"/>
                </a:solidFill>
              </a:rPr>
              <a:t>for</a:t>
            </a:r>
            <a:r>
              <a:rPr lang="tr-TR" sz="4000" b="1" dirty="0" smtClean="0">
                <a:solidFill>
                  <a:srgbClr val="FF6600"/>
                </a:solidFill>
              </a:rPr>
              <a:t> </a:t>
            </a:r>
            <a:r>
              <a:rPr lang="tr-TR" sz="4000" b="1" dirty="0" err="1" smtClean="0">
                <a:solidFill>
                  <a:srgbClr val="FF6600"/>
                </a:solidFill>
              </a:rPr>
              <a:t>companies</a:t>
            </a:r>
            <a:endParaRPr lang="en-US" sz="4000" b="1" dirty="0">
              <a:solidFill>
                <a:srgbClr val="FF6600"/>
              </a:solidFill>
            </a:endParaRPr>
          </a:p>
        </p:txBody>
      </p:sp>
      <p:pic>
        <p:nvPicPr>
          <p:cNvPr id="4" name="Picture 3">
            <a:extLst>
              <a:ext uri="{FF2B5EF4-FFF2-40B4-BE49-F238E27FC236}">
                <a16:creationId xmlns="" xmlns:a16="http://schemas.microsoft.com/office/drawing/2014/main" id="{7A465064-0714-5743-882B-8875105A7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8551" y="-123568"/>
            <a:ext cx="1643449" cy="1191939"/>
          </a:xfrm>
          <a:prstGeom prst="rect">
            <a:avLst/>
          </a:prstGeom>
        </p:spPr>
      </p:pic>
      <p:pic>
        <p:nvPicPr>
          <p:cNvPr id="5" name="Resim 4"/>
          <p:cNvPicPr>
            <a:picLocks noChangeAspect="1"/>
          </p:cNvPicPr>
          <p:nvPr/>
        </p:nvPicPr>
        <p:blipFill>
          <a:blip r:embed="rId3"/>
          <a:stretch>
            <a:fillRect/>
          </a:stretch>
        </p:blipFill>
        <p:spPr>
          <a:xfrm>
            <a:off x="272492" y="1068371"/>
            <a:ext cx="7079778" cy="5124450"/>
          </a:xfrm>
          <a:prstGeom prst="rect">
            <a:avLst/>
          </a:prstGeom>
        </p:spPr>
      </p:pic>
    </p:spTree>
    <p:extLst>
      <p:ext uri="{BB962C8B-B14F-4D97-AF65-F5344CB8AC3E}">
        <p14:creationId xmlns:p14="http://schemas.microsoft.com/office/powerpoint/2010/main" val="2016485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F26E-9345-4747-9094-972E38700A17}"/>
              </a:ext>
            </a:extLst>
          </p:cNvPr>
          <p:cNvSpPr>
            <a:spLocks noGrp="1"/>
          </p:cNvSpPr>
          <p:nvPr>
            <p:ph type="ctrTitle"/>
          </p:nvPr>
        </p:nvSpPr>
        <p:spPr>
          <a:xfrm rot="5400000">
            <a:off x="5719118" y="-5719120"/>
            <a:ext cx="753761" cy="12192003"/>
          </a:xfrm>
          <a:solidFill>
            <a:srgbClr val="3B3B3B"/>
          </a:solidFill>
        </p:spPr>
        <p:txBody>
          <a:bodyPr vert="vert270" anchor="t" anchorCtr="0">
            <a:normAutofit/>
          </a:bodyPr>
          <a:lstStyle/>
          <a:p>
            <a:pPr algn="l"/>
            <a:r>
              <a:rPr lang="tr-TR" sz="4000" b="1" dirty="0" err="1" smtClean="0">
                <a:solidFill>
                  <a:srgbClr val="FF6600"/>
                </a:solidFill>
              </a:rPr>
              <a:t>Number</a:t>
            </a:r>
            <a:r>
              <a:rPr lang="tr-TR" sz="4000" b="1" dirty="0" smtClean="0">
                <a:solidFill>
                  <a:srgbClr val="FF6600"/>
                </a:solidFill>
              </a:rPr>
              <a:t> of </a:t>
            </a:r>
            <a:r>
              <a:rPr lang="tr-TR" sz="4000" b="1" dirty="0" err="1" smtClean="0">
                <a:solidFill>
                  <a:srgbClr val="FF6600"/>
                </a:solidFill>
              </a:rPr>
              <a:t>users</a:t>
            </a:r>
            <a:r>
              <a:rPr lang="tr-TR" sz="4000" b="1" dirty="0" smtClean="0">
                <a:solidFill>
                  <a:srgbClr val="FF6600"/>
                </a:solidFill>
              </a:rPr>
              <a:t> in </a:t>
            </a:r>
            <a:r>
              <a:rPr lang="tr-TR" sz="4000" b="1" dirty="0" err="1" smtClean="0">
                <a:solidFill>
                  <a:srgbClr val="FF6600"/>
                </a:solidFill>
              </a:rPr>
              <a:t>cities</a:t>
            </a:r>
            <a:endParaRPr lang="en-US" sz="4000" b="1" dirty="0">
              <a:solidFill>
                <a:srgbClr val="FF6600"/>
              </a:solidFill>
            </a:endParaRPr>
          </a:p>
        </p:txBody>
      </p:sp>
      <p:pic>
        <p:nvPicPr>
          <p:cNvPr id="4" name="Picture 3">
            <a:extLst>
              <a:ext uri="{FF2B5EF4-FFF2-40B4-BE49-F238E27FC236}">
                <a16:creationId xmlns="" xmlns:a16="http://schemas.microsoft.com/office/drawing/2014/main" id="{7A465064-0714-5743-882B-8875105A7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8551" y="-123568"/>
            <a:ext cx="1643449" cy="1191939"/>
          </a:xfrm>
          <a:prstGeom prst="rect">
            <a:avLst/>
          </a:prstGeom>
        </p:spPr>
      </p:pic>
      <p:pic>
        <p:nvPicPr>
          <p:cNvPr id="6" name="Resim 5"/>
          <p:cNvPicPr>
            <a:picLocks noChangeAspect="1"/>
          </p:cNvPicPr>
          <p:nvPr/>
        </p:nvPicPr>
        <p:blipFill>
          <a:blip r:embed="rId3"/>
          <a:stretch>
            <a:fillRect/>
          </a:stretch>
        </p:blipFill>
        <p:spPr>
          <a:xfrm>
            <a:off x="1155614" y="1068371"/>
            <a:ext cx="7197554" cy="5410200"/>
          </a:xfrm>
          <a:prstGeom prst="rect">
            <a:avLst/>
          </a:prstGeom>
        </p:spPr>
      </p:pic>
    </p:spTree>
    <p:extLst>
      <p:ext uri="{BB962C8B-B14F-4D97-AF65-F5344CB8AC3E}">
        <p14:creationId xmlns:p14="http://schemas.microsoft.com/office/powerpoint/2010/main" val="866308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F26E-9345-4747-9094-972E38700A17}"/>
              </a:ext>
            </a:extLst>
          </p:cNvPr>
          <p:cNvSpPr>
            <a:spLocks noGrp="1"/>
          </p:cNvSpPr>
          <p:nvPr>
            <p:ph type="ctrTitle"/>
          </p:nvPr>
        </p:nvSpPr>
        <p:spPr>
          <a:xfrm rot="5400000">
            <a:off x="5719118" y="-5719120"/>
            <a:ext cx="753761" cy="12192003"/>
          </a:xfrm>
          <a:solidFill>
            <a:srgbClr val="3B3B3B"/>
          </a:solidFill>
        </p:spPr>
        <p:txBody>
          <a:bodyPr vert="vert270" anchor="t" anchorCtr="0">
            <a:normAutofit/>
          </a:bodyPr>
          <a:lstStyle/>
          <a:p>
            <a:pPr algn="l"/>
            <a:r>
              <a:rPr lang="tr-TR" sz="4000" b="1" dirty="0" smtClean="0">
                <a:solidFill>
                  <a:srgbClr val="FF6600"/>
                </a:solidFill>
              </a:rPr>
              <a:t>Profit Analysis</a:t>
            </a:r>
            <a:endParaRPr lang="en-US" sz="4000" b="1" dirty="0">
              <a:solidFill>
                <a:srgbClr val="FF6600"/>
              </a:solidFill>
            </a:endParaRPr>
          </a:p>
        </p:txBody>
      </p:sp>
      <p:pic>
        <p:nvPicPr>
          <p:cNvPr id="4" name="Picture 3">
            <a:extLst>
              <a:ext uri="{FF2B5EF4-FFF2-40B4-BE49-F238E27FC236}">
                <a16:creationId xmlns="" xmlns:a16="http://schemas.microsoft.com/office/drawing/2014/main" id="{7A465064-0714-5743-882B-8875105A7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8551" y="-123568"/>
            <a:ext cx="1643449" cy="1191939"/>
          </a:xfrm>
          <a:prstGeom prst="rect">
            <a:avLst/>
          </a:prstGeom>
        </p:spPr>
      </p:pic>
      <p:pic>
        <p:nvPicPr>
          <p:cNvPr id="6" name="Resim 5"/>
          <p:cNvPicPr>
            <a:picLocks noChangeAspect="1"/>
          </p:cNvPicPr>
          <p:nvPr/>
        </p:nvPicPr>
        <p:blipFill>
          <a:blip r:embed="rId3"/>
          <a:stretch>
            <a:fillRect/>
          </a:stretch>
        </p:blipFill>
        <p:spPr>
          <a:xfrm>
            <a:off x="1731487" y="877331"/>
            <a:ext cx="7536079" cy="5572125"/>
          </a:xfrm>
          <a:prstGeom prst="rect">
            <a:avLst/>
          </a:prstGeom>
        </p:spPr>
      </p:pic>
    </p:spTree>
    <p:extLst>
      <p:ext uri="{BB962C8B-B14F-4D97-AF65-F5344CB8AC3E}">
        <p14:creationId xmlns:p14="http://schemas.microsoft.com/office/powerpoint/2010/main" val="2003392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F26E-9345-4747-9094-972E38700A17}"/>
              </a:ext>
            </a:extLst>
          </p:cNvPr>
          <p:cNvSpPr>
            <a:spLocks noGrp="1"/>
          </p:cNvSpPr>
          <p:nvPr>
            <p:ph type="ctrTitle"/>
          </p:nvPr>
        </p:nvSpPr>
        <p:spPr>
          <a:xfrm rot="5400000">
            <a:off x="5719118" y="-5719120"/>
            <a:ext cx="753761" cy="12192003"/>
          </a:xfrm>
          <a:solidFill>
            <a:srgbClr val="3B3B3B"/>
          </a:solidFill>
        </p:spPr>
        <p:txBody>
          <a:bodyPr vert="vert270" anchor="t" anchorCtr="0">
            <a:normAutofit/>
          </a:bodyPr>
          <a:lstStyle/>
          <a:p>
            <a:pPr algn="l"/>
            <a:r>
              <a:rPr lang="tr-TR" sz="4000" b="1" dirty="0" err="1" smtClean="0">
                <a:solidFill>
                  <a:srgbClr val="FF6600"/>
                </a:solidFill>
              </a:rPr>
              <a:t>Gender</a:t>
            </a:r>
            <a:r>
              <a:rPr lang="tr-TR" sz="4000" b="1" dirty="0" smtClean="0">
                <a:solidFill>
                  <a:srgbClr val="FF6600"/>
                </a:solidFill>
              </a:rPr>
              <a:t> Analysis</a:t>
            </a:r>
            <a:endParaRPr lang="en-US" sz="4000" b="1" dirty="0">
              <a:solidFill>
                <a:srgbClr val="FF6600"/>
              </a:solidFill>
            </a:endParaRPr>
          </a:p>
        </p:txBody>
      </p:sp>
      <p:pic>
        <p:nvPicPr>
          <p:cNvPr id="4" name="Picture 3">
            <a:extLst>
              <a:ext uri="{FF2B5EF4-FFF2-40B4-BE49-F238E27FC236}">
                <a16:creationId xmlns="" xmlns:a16="http://schemas.microsoft.com/office/drawing/2014/main" id="{7A465064-0714-5743-882B-8875105A7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8551" y="-123568"/>
            <a:ext cx="1643449" cy="1191939"/>
          </a:xfrm>
          <a:prstGeom prst="rect">
            <a:avLst/>
          </a:prstGeom>
        </p:spPr>
      </p:pic>
      <p:pic>
        <p:nvPicPr>
          <p:cNvPr id="3" name="Resim 2"/>
          <p:cNvPicPr>
            <a:picLocks noChangeAspect="1"/>
          </p:cNvPicPr>
          <p:nvPr/>
        </p:nvPicPr>
        <p:blipFill>
          <a:blip r:embed="rId3"/>
          <a:stretch>
            <a:fillRect/>
          </a:stretch>
        </p:blipFill>
        <p:spPr>
          <a:xfrm>
            <a:off x="1672666" y="877331"/>
            <a:ext cx="8175669" cy="5795318"/>
          </a:xfrm>
          <a:prstGeom prst="rect">
            <a:avLst/>
          </a:prstGeom>
        </p:spPr>
      </p:pic>
    </p:spTree>
    <p:extLst>
      <p:ext uri="{BB962C8B-B14F-4D97-AF65-F5344CB8AC3E}">
        <p14:creationId xmlns:p14="http://schemas.microsoft.com/office/powerpoint/2010/main" val="992639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F26E-9345-4747-9094-972E38700A17}"/>
              </a:ext>
            </a:extLst>
          </p:cNvPr>
          <p:cNvSpPr>
            <a:spLocks noGrp="1"/>
          </p:cNvSpPr>
          <p:nvPr>
            <p:ph type="ctrTitle"/>
          </p:nvPr>
        </p:nvSpPr>
        <p:spPr>
          <a:xfrm rot="5400000">
            <a:off x="5719118" y="-5719120"/>
            <a:ext cx="753761" cy="12192003"/>
          </a:xfrm>
          <a:solidFill>
            <a:srgbClr val="3B3B3B"/>
          </a:solidFill>
        </p:spPr>
        <p:txBody>
          <a:bodyPr vert="vert270" anchor="t" anchorCtr="0">
            <a:normAutofit/>
          </a:bodyPr>
          <a:lstStyle/>
          <a:p>
            <a:pPr algn="l"/>
            <a:r>
              <a:rPr lang="tr-TR" sz="4000" b="1" dirty="0" smtClean="0">
                <a:solidFill>
                  <a:srgbClr val="FF6600"/>
                </a:solidFill>
              </a:rPr>
              <a:t>Profit Analysis</a:t>
            </a:r>
            <a:endParaRPr lang="en-US" sz="4000" b="1" dirty="0">
              <a:solidFill>
                <a:srgbClr val="FF6600"/>
              </a:solidFill>
            </a:endParaRPr>
          </a:p>
        </p:txBody>
      </p:sp>
      <p:pic>
        <p:nvPicPr>
          <p:cNvPr id="4" name="Picture 3">
            <a:extLst>
              <a:ext uri="{FF2B5EF4-FFF2-40B4-BE49-F238E27FC236}">
                <a16:creationId xmlns="" xmlns:a16="http://schemas.microsoft.com/office/drawing/2014/main" id="{7A465064-0714-5743-882B-8875105A7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8551" y="-123568"/>
            <a:ext cx="1643449" cy="1191939"/>
          </a:xfrm>
          <a:prstGeom prst="rect">
            <a:avLst/>
          </a:prstGeom>
        </p:spPr>
      </p:pic>
      <p:sp>
        <p:nvSpPr>
          <p:cNvPr id="6" name="Dikdörtgen 5"/>
          <p:cNvSpPr/>
          <p:nvPr/>
        </p:nvSpPr>
        <p:spPr>
          <a:xfrm>
            <a:off x="4572000" y="1068371"/>
            <a:ext cx="617838" cy="38125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Alt Başlık 2"/>
          <p:cNvSpPr txBox="1">
            <a:spLocks/>
          </p:cNvSpPr>
          <p:nvPr/>
        </p:nvSpPr>
        <p:spPr>
          <a:xfrm>
            <a:off x="9612655" y="1717588"/>
            <a:ext cx="2445480" cy="488128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1800" dirty="0"/>
              <a:t>When we consider the </a:t>
            </a:r>
            <a:r>
              <a:rPr lang="tr-TR" sz="1800" dirty="0" smtClean="0"/>
              <a:t>Profit</a:t>
            </a:r>
            <a:r>
              <a:rPr lang="en-US" sz="1800" dirty="0" smtClean="0"/>
              <a:t> </a:t>
            </a:r>
            <a:r>
              <a:rPr lang="en-US" sz="1800" dirty="0"/>
              <a:t>as the month, we see that </a:t>
            </a:r>
            <a:r>
              <a:rPr lang="tr-TR" sz="1800" dirty="0" smtClean="0"/>
              <a:t>Y</a:t>
            </a:r>
            <a:r>
              <a:rPr lang="en-US" sz="1800" dirty="0" err="1" smtClean="0"/>
              <a:t>ellow</a:t>
            </a:r>
            <a:r>
              <a:rPr lang="tr-TR" sz="1800" dirty="0" smtClean="0"/>
              <a:t> </a:t>
            </a:r>
            <a:r>
              <a:rPr lang="tr-TR" sz="1800" dirty="0" err="1" smtClean="0"/>
              <a:t>Cab</a:t>
            </a:r>
            <a:r>
              <a:rPr lang="tr-TR" sz="1800" dirty="0" smtClean="0"/>
              <a:t> </a:t>
            </a:r>
            <a:r>
              <a:rPr lang="tr-TR" sz="1800" dirty="0" err="1" smtClean="0"/>
              <a:t>Company</a:t>
            </a:r>
            <a:r>
              <a:rPr lang="en-US" sz="1800" dirty="0" smtClean="0"/>
              <a:t> </a:t>
            </a:r>
            <a:r>
              <a:rPr lang="en-US" sz="1800" dirty="0"/>
              <a:t>is more in the months when the profit of </a:t>
            </a:r>
            <a:r>
              <a:rPr lang="tr-TR" sz="1800" dirty="0"/>
              <a:t>P</a:t>
            </a:r>
            <a:r>
              <a:rPr lang="en-US" sz="1800" dirty="0" smtClean="0"/>
              <a:t>ink</a:t>
            </a:r>
            <a:r>
              <a:rPr lang="tr-TR" sz="1800" dirty="0" smtClean="0"/>
              <a:t> </a:t>
            </a:r>
            <a:r>
              <a:rPr lang="tr-TR" sz="1800" dirty="0" err="1" smtClean="0"/>
              <a:t>Cab</a:t>
            </a:r>
            <a:r>
              <a:rPr lang="tr-TR" sz="1800" dirty="0" smtClean="0"/>
              <a:t> </a:t>
            </a:r>
            <a:r>
              <a:rPr lang="tr-TR" sz="1800" dirty="0" err="1" smtClean="0"/>
              <a:t>Company</a:t>
            </a:r>
            <a:r>
              <a:rPr lang="en-US" sz="1800" dirty="0" smtClean="0"/>
              <a:t> </a:t>
            </a:r>
            <a:r>
              <a:rPr lang="en-US" sz="1800" dirty="0"/>
              <a:t>decreases</a:t>
            </a:r>
            <a:r>
              <a:rPr lang="en-US" sz="1800" dirty="0" smtClean="0"/>
              <a:t>.</a:t>
            </a:r>
            <a:endParaRPr lang="tr-TR" sz="1800" dirty="0" smtClean="0"/>
          </a:p>
          <a:p>
            <a:pPr algn="l"/>
            <a:endParaRPr lang="tr-TR" sz="1800" dirty="0"/>
          </a:p>
          <a:p>
            <a:pPr marL="342900" indent="-342900" algn="l">
              <a:buFont typeface="Arial" panose="020B0604020202020204" pitchFamily="34" charset="0"/>
              <a:buChar char="•"/>
            </a:pPr>
            <a:r>
              <a:rPr lang="en-US" sz="1800" dirty="0"/>
              <a:t>We can observe an increase in the last months for both.</a:t>
            </a:r>
            <a:br>
              <a:rPr lang="en-US" sz="1800" dirty="0"/>
            </a:br>
            <a:r>
              <a:rPr lang="en-US" sz="1800" dirty="0"/>
              <a:t/>
            </a:r>
            <a:br>
              <a:rPr lang="en-US" sz="1800" dirty="0"/>
            </a:br>
            <a:endParaRPr lang="tr-TR" sz="1800" dirty="0" smtClean="0"/>
          </a:p>
          <a:p>
            <a:pPr algn="l"/>
            <a:endParaRPr lang="tr-TR" sz="1800" dirty="0"/>
          </a:p>
          <a:p>
            <a:pPr algn="l"/>
            <a:r>
              <a:rPr lang="en-US" sz="1800" dirty="0"/>
              <a:t/>
            </a:r>
            <a:br>
              <a:rPr lang="en-US" sz="1800" dirty="0"/>
            </a:br>
            <a:r>
              <a:rPr lang="en-US" sz="1800" dirty="0"/>
              <a:t/>
            </a:r>
            <a:br>
              <a:rPr lang="en-US" sz="1800" dirty="0"/>
            </a:br>
            <a:endParaRPr lang="tr-TR" sz="1800" dirty="0"/>
          </a:p>
        </p:txBody>
      </p:sp>
      <p:pic>
        <p:nvPicPr>
          <p:cNvPr id="3" name="Resim 2"/>
          <p:cNvPicPr>
            <a:picLocks noChangeAspect="1"/>
          </p:cNvPicPr>
          <p:nvPr/>
        </p:nvPicPr>
        <p:blipFill>
          <a:blip r:embed="rId3"/>
          <a:stretch>
            <a:fillRect/>
          </a:stretch>
        </p:blipFill>
        <p:spPr>
          <a:xfrm>
            <a:off x="149182" y="1068371"/>
            <a:ext cx="9463473" cy="5486400"/>
          </a:xfrm>
          <a:prstGeom prst="rect">
            <a:avLst/>
          </a:prstGeom>
        </p:spPr>
      </p:pic>
      <p:sp>
        <p:nvSpPr>
          <p:cNvPr id="8" name="Dikdörtgen 7"/>
          <p:cNvSpPr/>
          <p:nvPr/>
        </p:nvSpPr>
        <p:spPr>
          <a:xfrm>
            <a:off x="5535827" y="840259"/>
            <a:ext cx="4522573" cy="766119"/>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Tree>
    <p:extLst>
      <p:ext uri="{BB962C8B-B14F-4D97-AF65-F5344CB8AC3E}">
        <p14:creationId xmlns:p14="http://schemas.microsoft.com/office/powerpoint/2010/main" val="2985996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F26E-9345-4747-9094-972E38700A17}"/>
              </a:ext>
            </a:extLst>
          </p:cNvPr>
          <p:cNvSpPr>
            <a:spLocks noGrp="1"/>
          </p:cNvSpPr>
          <p:nvPr>
            <p:ph type="ctrTitle"/>
          </p:nvPr>
        </p:nvSpPr>
        <p:spPr>
          <a:xfrm rot="5400000">
            <a:off x="5719118" y="-5719120"/>
            <a:ext cx="753761" cy="12192003"/>
          </a:xfrm>
          <a:solidFill>
            <a:srgbClr val="3B3B3B"/>
          </a:solidFill>
        </p:spPr>
        <p:txBody>
          <a:bodyPr vert="vert270" anchor="t" anchorCtr="0">
            <a:normAutofit/>
          </a:bodyPr>
          <a:lstStyle/>
          <a:p>
            <a:pPr algn="l"/>
            <a:r>
              <a:rPr lang="tr-TR" sz="4000" b="1" dirty="0" err="1" smtClean="0">
                <a:solidFill>
                  <a:srgbClr val="FF6600"/>
                </a:solidFill>
              </a:rPr>
              <a:t>Number</a:t>
            </a:r>
            <a:r>
              <a:rPr lang="tr-TR" sz="4000" b="1" dirty="0" smtClean="0">
                <a:solidFill>
                  <a:srgbClr val="FF6600"/>
                </a:solidFill>
              </a:rPr>
              <a:t> of </a:t>
            </a:r>
            <a:r>
              <a:rPr lang="tr-TR" sz="4000" b="1" dirty="0" err="1" smtClean="0">
                <a:solidFill>
                  <a:srgbClr val="FF6600"/>
                </a:solidFill>
              </a:rPr>
              <a:t>Users</a:t>
            </a:r>
            <a:endParaRPr lang="en-US" sz="4000" b="1" dirty="0">
              <a:solidFill>
                <a:srgbClr val="FF6600"/>
              </a:solidFill>
            </a:endParaRPr>
          </a:p>
        </p:txBody>
      </p:sp>
      <p:pic>
        <p:nvPicPr>
          <p:cNvPr id="4" name="Picture 3">
            <a:extLst>
              <a:ext uri="{FF2B5EF4-FFF2-40B4-BE49-F238E27FC236}">
                <a16:creationId xmlns="" xmlns:a16="http://schemas.microsoft.com/office/drawing/2014/main" id="{7A465064-0714-5743-882B-8875105A7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8551" y="-123568"/>
            <a:ext cx="1643449" cy="1191939"/>
          </a:xfrm>
          <a:prstGeom prst="rect">
            <a:avLst/>
          </a:prstGeom>
        </p:spPr>
      </p:pic>
      <p:pic>
        <p:nvPicPr>
          <p:cNvPr id="5" name="Resim 4"/>
          <p:cNvPicPr>
            <a:picLocks noChangeAspect="1"/>
          </p:cNvPicPr>
          <p:nvPr/>
        </p:nvPicPr>
        <p:blipFill>
          <a:blip r:embed="rId3"/>
          <a:stretch>
            <a:fillRect/>
          </a:stretch>
        </p:blipFill>
        <p:spPr>
          <a:xfrm>
            <a:off x="572786" y="815975"/>
            <a:ext cx="7224328" cy="5831960"/>
          </a:xfrm>
          <a:prstGeom prst="rect">
            <a:avLst/>
          </a:prstGeom>
        </p:spPr>
      </p:pic>
      <p:sp>
        <p:nvSpPr>
          <p:cNvPr id="6" name="Dikdörtgen 5"/>
          <p:cNvSpPr/>
          <p:nvPr/>
        </p:nvSpPr>
        <p:spPr>
          <a:xfrm>
            <a:off x="4572000" y="1068371"/>
            <a:ext cx="617838" cy="38125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Alt Başlık 2"/>
          <p:cNvSpPr txBox="1">
            <a:spLocks/>
          </p:cNvSpPr>
          <p:nvPr/>
        </p:nvSpPr>
        <p:spPr>
          <a:xfrm>
            <a:off x="8122507" y="1550529"/>
            <a:ext cx="4069493" cy="2848232"/>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smtClean="0"/>
              <a:t>Cities with the most </a:t>
            </a:r>
            <a:r>
              <a:rPr lang="tr-TR" b="1" dirty="0" err="1" smtClean="0"/>
              <a:t>cab</a:t>
            </a:r>
            <a:r>
              <a:rPr lang="en-US" b="1" dirty="0" smtClean="0"/>
              <a:t> users</a:t>
            </a:r>
            <a:endParaRPr lang="tr-TR" b="1" dirty="0" smtClean="0"/>
          </a:p>
          <a:p>
            <a:pPr algn="l"/>
            <a:r>
              <a:rPr lang="tr-TR" b="1" dirty="0" smtClean="0"/>
              <a:t>(Top 5)</a:t>
            </a:r>
          </a:p>
          <a:p>
            <a:pPr marL="342900" indent="-342900" algn="l">
              <a:buFont typeface="Arial" panose="020B0604020202020204" pitchFamily="34" charset="0"/>
              <a:buChar char="•"/>
            </a:pPr>
            <a:r>
              <a:rPr lang="tr-TR" sz="1900" dirty="0" smtClean="0"/>
              <a:t>New York </a:t>
            </a:r>
          </a:p>
          <a:p>
            <a:pPr marL="342900" indent="-342900" algn="l">
              <a:buFont typeface="Arial" panose="020B0604020202020204" pitchFamily="34" charset="0"/>
              <a:buChar char="•"/>
            </a:pPr>
            <a:r>
              <a:rPr lang="tr-TR" sz="1900" dirty="0" smtClean="0"/>
              <a:t>Chicago</a:t>
            </a:r>
          </a:p>
          <a:p>
            <a:pPr marL="342900" indent="-342900" algn="l">
              <a:buFont typeface="Arial" panose="020B0604020202020204" pitchFamily="34" charset="0"/>
              <a:buChar char="•"/>
            </a:pPr>
            <a:r>
              <a:rPr lang="tr-TR" sz="1900" dirty="0" smtClean="0"/>
              <a:t>Los Angeles</a:t>
            </a:r>
          </a:p>
          <a:p>
            <a:pPr marL="342900" indent="-342900" algn="l">
              <a:buFont typeface="Arial" panose="020B0604020202020204" pitchFamily="34" charset="0"/>
              <a:buChar char="•"/>
            </a:pPr>
            <a:r>
              <a:rPr lang="tr-TR" sz="1900" dirty="0" smtClean="0"/>
              <a:t>Washington</a:t>
            </a:r>
          </a:p>
          <a:p>
            <a:pPr marL="342900" indent="-342900" algn="l">
              <a:buFont typeface="Arial" panose="020B0604020202020204" pitchFamily="34" charset="0"/>
              <a:buChar char="•"/>
            </a:pPr>
            <a:r>
              <a:rPr lang="tr-TR" sz="1900" dirty="0" smtClean="0"/>
              <a:t>Boston</a:t>
            </a:r>
            <a:r>
              <a:rPr lang="en-US" dirty="0" smtClean="0"/>
              <a:t/>
            </a:r>
            <a:br>
              <a:rPr lang="en-US" dirty="0" smtClean="0"/>
            </a:br>
            <a:endParaRPr lang="tr-TR" dirty="0"/>
          </a:p>
        </p:txBody>
      </p:sp>
    </p:spTree>
    <p:extLst>
      <p:ext uri="{BB962C8B-B14F-4D97-AF65-F5344CB8AC3E}">
        <p14:creationId xmlns:p14="http://schemas.microsoft.com/office/powerpoint/2010/main" val="676877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F26E-9345-4747-9094-972E38700A17}"/>
              </a:ext>
            </a:extLst>
          </p:cNvPr>
          <p:cNvSpPr>
            <a:spLocks noGrp="1"/>
          </p:cNvSpPr>
          <p:nvPr>
            <p:ph type="ctrTitle"/>
          </p:nvPr>
        </p:nvSpPr>
        <p:spPr>
          <a:xfrm rot="5400000">
            <a:off x="5719118" y="-5719120"/>
            <a:ext cx="753761" cy="12192003"/>
          </a:xfrm>
          <a:solidFill>
            <a:srgbClr val="3B3B3B"/>
          </a:solidFill>
        </p:spPr>
        <p:txBody>
          <a:bodyPr vert="vert270" anchor="t" anchorCtr="0">
            <a:normAutofit/>
          </a:bodyPr>
          <a:lstStyle/>
          <a:p>
            <a:pPr algn="l"/>
            <a:r>
              <a:rPr lang="tr-TR" sz="4000" b="1" dirty="0" err="1" smtClean="0">
                <a:solidFill>
                  <a:srgbClr val="FF6600"/>
                </a:solidFill>
              </a:rPr>
              <a:t>Number</a:t>
            </a:r>
            <a:r>
              <a:rPr lang="tr-TR" sz="4000" b="1" dirty="0" smtClean="0">
                <a:solidFill>
                  <a:srgbClr val="FF6600"/>
                </a:solidFill>
              </a:rPr>
              <a:t> of </a:t>
            </a:r>
            <a:r>
              <a:rPr lang="tr-TR" sz="4000" b="1" dirty="0" err="1" smtClean="0">
                <a:solidFill>
                  <a:srgbClr val="FF6600"/>
                </a:solidFill>
              </a:rPr>
              <a:t>Users</a:t>
            </a:r>
            <a:endParaRPr lang="en-US" sz="4000" b="1" dirty="0">
              <a:solidFill>
                <a:srgbClr val="FF6600"/>
              </a:solidFill>
            </a:endParaRPr>
          </a:p>
        </p:txBody>
      </p:sp>
      <p:pic>
        <p:nvPicPr>
          <p:cNvPr id="4" name="Picture 3">
            <a:extLst>
              <a:ext uri="{FF2B5EF4-FFF2-40B4-BE49-F238E27FC236}">
                <a16:creationId xmlns="" xmlns:a16="http://schemas.microsoft.com/office/drawing/2014/main" id="{7A465064-0714-5743-882B-8875105A7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8551" y="-123568"/>
            <a:ext cx="1643449" cy="1191939"/>
          </a:xfrm>
          <a:prstGeom prst="rect">
            <a:avLst/>
          </a:prstGeom>
        </p:spPr>
      </p:pic>
      <p:sp>
        <p:nvSpPr>
          <p:cNvPr id="6" name="Dikdörtgen 5"/>
          <p:cNvSpPr/>
          <p:nvPr/>
        </p:nvSpPr>
        <p:spPr>
          <a:xfrm>
            <a:off x="4572000" y="1068371"/>
            <a:ext cx="617838" cy="38125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Alt Başlık 2"/>
          <p:cNvSpPr txBox="1">
            <a:spLocks/>
          </p:cNvSpPr>
          <p:nvPr/>
        </p:nvSpPr>
        <p:spPr>
          <a:xfrm>
            <a:off x="8122507" y="1550529"/>
            <a:ext cx="4069493" cy="28482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smtClean="0"/>
              <a:t/>
            </a:r>
            <a:br>
              <a:rPr lang="en-US" dirty="0" smtClean="0"/>
            </a:br>
            <a:endParaRPr lang="tr-TR" dirty="0"/>
          </a:p>
        </p:txBody>
      </p:sp>
      <p:pic>
        <p:nvPicPr>
          <p:cNvPr id="3" name="Resim 2"/>
          <p:cNvPicPr>
            <a:picLocks noChangeAspect="1"/>
          </p:cNvPicPr>
          <p:nvPr/>
        </p:nvPicPr>
        <p:blipFill>
          <a:blip r:embed="rId3"/>
          <a:stretch>
            <a:fillRect/>
          </a:stretch>
        </p:blipFill>
        <p:spPr>
          <a:xfrm>
            <a:off x="334276" y="877331"/>
            <a:ext cx="7215702" cy="5820031"/>
          </a:xfrm>
          <a:prstGeom prst="rect">
            <a:avLst/>
          </a:prstGeom>
        </p:spPr>
      </p:pic>
      <p:sp>
        <p:nvSpPr>
          <p:cNvPr id="8" name="Dikdörtgen 7"/>
          <p:cNvSpPr/>
          <p:nvPr/>
        </p:nvSpPr>
        <p:spPr>
          <a:xfrm>
            <a:off x="8122507" y="1444106"/>
            <a:ext cx="3424882" cy="3385542"/>
          </a:xfrm>
          <a:prstGeom prst="rect">
            <a:avLst/>
          </a:prstGeom>
        </p:spPr>
        <p:txBody>
          <a:bodyPr wrap="square">
            <a:spAutoFit/>
          </a:bodyPr>
          <a:lstStyle/>
          <a:p>
            <a:r>
              <a:rPr lang="en-US" sz="2800" dirty="0" smtClean="0">
                <a:solidFill>
                  <a:srgbClr val="000000"/>
                </a:solidFill>
                <a:latin typeface="+mj-lt"/>
              </a:rPr>
              <a:t>26-40 </a:t>
            </a:r>
            <a:r>
              <a:rPr lang="en-US" sz="2800" dirty="0">
                <a:solidFill>
                  <a:srgbClr val="000000"/>
                </a:solidFill>
                <a:latin typeface="+mj-lt"/>
              </a:rPr>
              <a:t>age group </a:t>
            </a:r>
            <a:r>
              <a:rPr lang="tr-TR" sz="2800" dirty="0" err="1" smtClean="0">
                <a:solidFill>
                  <a:srgbClr val="000000"/>
                </a:solidFill>
                <a:latin typeface="+mj-lt"/>
              </a:rPr>
              <a:t>provides</a:t>
            </a:r>
            <a:r>
              <a:rPr lang="tr-TR" sz="2800" dirty="0" smtClean="0">
                <a:solidFill>
                  <a:srgbClr val="000000"/>
                </a:solidFill>
                <a:latin typeface="+mj-lt"/>
              </a:rPr>
              <a:t> </a:t>
            </a:r>
            <a:r>
              <a:rPr lang="tr-TR" sz="2800" dirty="0" err="1" smtClean="0">
                <a:solidFill>
                  <a:srgbClr val="000000"/>
                </a:solidFill>
                <a:latin typeface="+mj-lt"/>
              </a:rPr>
              <a:t>profit</a:t>
            </a:r>
            <a:r>
              <a:rPr lang="tr-TR" sz="2800" dirty="0" smtClean="0">
                <a:solidFill>
                  <a:srgbClr val="000000"/>
                </a:solidFill>
                <a:latin typeface="+mj-lt"/>
              </a:rPr>
              <a:t> </a:t>
            </a:r>
            <a:r>
              <a:rPr lang="en-US" sz="2800" dirty="0" smtClean="0">
                <a:solidFill>
                  <a:srgbClr val="000000"/>
                </a:solidFill>
                <a:latin typeface="+mj-lt"/>
              </a:rPr>
              <a:t>the most</a:t>
            </a:r>
            <a:r>
              <a:rPr lang="tr-TR" sz="2800" dirty="0" smtClean="0">
                <a:solidFill>
                  <a:srgbClr val="000000"/>
                </a:solidFill>
                <a:latin typeface="+mj-lt"/>
              </a:rPr>
              <a:t>.</a:t>
            </a:r>
          </a:p>
          <a:p>
            <a:r>
              <a:rPr lang="tr-TR" sz="2800" dirty="0" smtClean="0">
                <a:solidFill>
                  <a:srgbClr val="000000"/>
                </a:solidFill>
                <a:latin typeface="+mj-lt"/>
              </a:rPr>
              <a:t>Top Profit </a:t>
            </a:r>
            <a:r>
              <a:rPr lang="tr-TR" sz="2800" dirty="0" err="1" smtClean="0">
                <a:solidFill>
                  <a:srgbClr val="000000"/>
                </a:solidFill>
                <a:latin typeface="+mj-lt"/>
              </a:rPr>
              <a:t>cities</a:t>
            </a:r>
            <a:r>
              <a:rPr lang="tr-TR" sz="2800" dirty="0" smtClean="0">
                <a:solidFill>
                  <a:srgbClr val="000000"/>
                </a:solidFill>
                <a:latin typeface="+mj-lt"/>
              </a:rPr>
              <a:t>:</a:t>
            </a:r>
          </a:p>
          <a:p>
            <a:pPr marL="457200" indent="-457200">
              <a:buFont typeface="Arial" panose="020B0604020202020204" pitchFamily="34" charset="0"/>
              <a:buChar char="•"/>
            </a:pPr>
            <a:r>
              <a:rPr lang="tr-TR" sz="2800" dirty="0" smtClean="0">
                <a:solidFill>
                  <a:srgbClr val="000000"/>
                </a:solidFill>
                <a:latin typeface="+mj-lt"/>
              </a:rPr>
              <a:t>New York</a:t>
            </a:r>
          </a:p>
          <a:p>
            <a:pPr marL="457200" indent="-457200">
              <a:buFont typeface="Arial" panose="020B0604020202020204" pitchFamily="34" charset="0"/>
              <a:buChar char="•"/>
            </a:pPr>
            <a:r>
              <a:rPr lang="tr-TR" sz="2800" dirty="0" smtClean="0">
                <a:solidFill>
                  <a:srgbClr val="000000"/>
                </a:solidFill>
                <a:latin typeface="+mj-lt"/>
              </a:rPr>
              <a:t>Los Angeles</a:t>
            </a:r>
          </a:p>
          <a:p>
            <a:pPr marL="457200" indent="-457200">
              <a:buFont typeface="Arial" panose="020B0604020202020204" pitchFamily="34" charset="0"/>
              <a:buChar char="•"/>
            </a:pPr>
            <a:r>
              <a:rPr lang="tr-TR" sz="2800" dirty="0" smtClean="0">
                <a:solidFill>
                  <a:srgbClr val="000000"/>
                </a:solidFill>
                <a:latin typeface="+mj-lt"/>
              </a:rPr>
              <a:t>Washington</a:t>
            </a:r>
            <a:r>
              <a:rPr lang="en-US" dirty="0">
                <a:solidFill>
                  <a:srgbClr val="000000"/>
                </a:solidFill>
                <a:latin typeface="+mj-lt"/>
              </a:rPr>
              <a:t/>
            </a:r>
            <a:br>
              <a:rPr lang="en-US" dirty="0">
                <a:solidFill>
                  <a:srgbClr val="000000"/>
                </a:solidFill>
                <a:latin typeface="+mj-lt"/>
              </a:rPr>
            </a:br>
            <a:endParaRPr lang="tr-TR" dirty="0">
              <a:latin typeface="+mj-lt"/>
            </a:endParaRPr>
          </a:p>
        </p:txBody>
      </p:sp>
      <p:sp>
        <p:nvSpPr>
          <p:cNvPr id="9" name="Dikdörtgen 8"/>
          <p:cNvSpPr/>
          <p:nvPr/>
        </p:nvSpPr>
        <p:spPr>
          <a:xfrm>
            <a:off x="444843" y="3608173"/>
            <a:ext cx="308919" cy="1977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789517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0087AA53-A2BE-554B-AAE4-C6D527006499}"/>
              </a:ext>
            </a:extLst>
          </p:cNvPr>
          <p:cNvSpPr txBox="1"/>
          <p:nvPr/>
        </p:nvSpPr>
        <p:spPr>
          <a:xfrm>
            <a:off x="762000" y="1595021"/>
            <a:ext cx="11430000" cy="3293209"/>
          </a:xfrm>
          <a:prstGeom prst="rect">
            <a:avLst/>
          </a:prstGeom>
          <a:noFill/>
        </p:spPr>
        <p:txBody>
          <a:bodyPr wrap="square" rtlCol="0">
            <a:spAutoFit/>
          </a:bodyPr>
          <a:lstStyle/>
          <a:p>
            <a:r>
              <a:rPr lang="tr-TR" sz="1600" dirty="0" err="1" smtClean="0"/>
              <a:t>From</a:t>
            </a:r>
            <a:r>
              <a:rPr lang="tr-TR" sz="1600" dirty="0" smtClean="0"/>
              <a:t> </a:t>
            </a:r>
            <a:r>
              <a:rPr lang="tr-TR" sz="1600" dirty="0" err="1" smtClean="0"/>
              <a:t>the</a:t>
            </a:r>
            <a:r>
              <a:rPr lang="tr-TR" sz="1600" dirty="0" smtClean="0"/>
              <a:t> </a:t>
            </a:r>
            <a:r>
              <a:rPr lang="tr-TR" sz="1600" dirty="0" err="1" smtClean="0"/>
              <a:t>observations</a:t>
            </a:r>
            <a:r>
              <a:rPr lang="tr-TR" sz="1600" dirty="0" smtClean="0"/>
              <a:t>, </a:t>
            </a:r>
            <a:r>
              <a:rPr lang="tr-TR" sz="1600" dirty="0" err="1" smtClean="0"/>
              <a:t>we</a:t>
            </a:r>
            <a:r>
              <a:rPr lang="tr-TR" sz="1600" dirty="0" smtClean="0"/>
              <a:t> can say </a:t>
            </a:r>
            <a:r>
              <a:rPr lang="tr-TR" sz="1600" dirty="0" err="1" smtClean="0"/>
              <a:t>that</a:t>
            </a:r>
            <a:r>
              <a:rPr lang="tr-TR" sz="1600" dirty="0" smtClean="0"/>
              <a:t> </a:t>
            </a:r>
            <a:r>
              <a:rPr lang="tr-TR" sz="1600" dirty="0" err="1" smtClean="0"/>
              <a:t>Yellow</a:t>
            </a:r>
            <a:r>
              <a:rPr lang="tr-TR" sz="1600" dirty="0" smtClean="0"/>
              <a:t> </a:t>
            </a:r>
            <a:r>
              <a:rPr lang="tr-TR" sz="1600" dirty="0" err="1" smtClean="0"/>
              <a:t>Cab</a:t>
            </a:r>
            <a:r>
              <a:rPr lang="tr-TR" sz="1600" dirty="0" smtClean="0"/>
              <a:t> is </a:t>
            </a:r>
            <a:r>
              <a:rPr lang="tr-TR" sz="1600" dirty="0" err="1" smtClean="0"/>
              <a:t>better</a:t>
            </a:r>
            <a:r>
              <a:rPr lang="tr-TR" sz="1600" dirty="0" smtClean="0"/>
              <a:t> </a:t>
            </a:r>
            <a:r>
              <a:rPr lang="tr-TR" sz="1600" dirty="0" err="1" smtClean="0"/>
              <a:t>than</a:t>
            </a:r>
            <a:r>
              <a:rPr lang="tr-TR" sz="1600" dirty="0" smtClean="0"/>
              <a:t> Pink </a:t>
            </a:r>
            <a:r>
              <a:rPr lang="tr-TR" sz="1600" dirty="0" err="1" smtClean="0"/>
              <a:t>Cab</a:t>
            </a:r>
            <a:r>
              <a:rPr lang="tr-TR" sz="1600" dirty="0" smtClean="0"/>
              <a:t> </a:t>
            </a:r>
            <a:r>
              <a:rPr lang="tr-TR" sz="1600" dirty="0" err="1" smtClean="0"/>
              <a:t>for</a:t>
            </a:r>
            <a:r>
              <a:rPr lang="tr-TR" sz="1600" dirty="0" smtClean="0"/>
              <a:t> </a:t>
            </a:r>
            <a:r>
              <a:rPr lang="tr-TR" sz="1600" dirty="0" err="1" smtClean="0"/>
              <a:t>investment</a:t>
            </a:r>
            <a:r>
              <a:rPr lang="tr-TR" sz="1600" dirty="0" smtClean="0"/>
              <a:t>.</a:t>
            </a:r>
            <a:endParaRPr lang="en-US" sz="1600" dirty="0"/>
          </a:p>
          <a:p>
            <a:endParaRPr lang="en-US" sz="1600" b="1" dirty="0" smtClean="0"/>
          </a:p>
          <a:p>
            <a:pPr marL="285750" indent="-285750">
              <a:buFont typeface="Arial" panose="020B0604020202020204" pitchFamily="34" charset="0"/>
              <a:buChar char="•"/>
            </a:pPr>
            <a:r>
              <a:rPr lang="en-US" sz="1600" b="1" dirty="0" smtClean="0"/>
              <a:t>Customer Reach  :</a:t>
            </a:r>
            <a:r>
              <a:rPr lang="en-US" sz="1600" dirty="0" smtClean="0"/>
              <a:t>In every city, users prefer </a:t>
            </a:r>
            <a:r>
              <a:rPr lang="tr-TR" sz="1600" dirty="0" smtClean="0"/>
              <a:t>Y</a:t>
            </a:r>
            <a:r>
              <a:rPr lang="en-US" sz="1600" dirty="0" err="1" smtClean="0"/>
              <a:t>ellow</a:t>
            </a:r>
            <a:r>
              <a:rPr lang="tr-TR" sz="1600" dirty="0" smtClean="0"/>
              <a:t> </a:t>
            </a:r>
            <a:r>
              <a:rPr lang="tr-TR" sz="1600" dirty="0" err="1" smtClean="0"/>
              <a:t>Cab</a:t>
            </a:r>
            <a:r>
              <a:rPr lang="en-US" sz="1600" dirty="0" smtClean="0"/>
              <a:t> more</a:t>
            </a:r>
            <a:r>
              <a:rPr lang="tr-TR" sz="1600" dirty="0" smtClean="0"/>
              <a:t>.</a:t>
            </a:r>
            <a:r>
              <a:rPr lang="en-US" sz="1600" dirty="0"/>
              <a:t/>
            </a:r>
            <a:br>
              <a:rPr lang="en-US" sz="1600" dirty="0"/>
            </a:br>
            <a:endParaRPr lang="tr-TR" sz="1600" dirty="0" smtClean="0"/>
          </a:p>
          <a:p>
            <a:pPr marL="285750" indent="-285750">
              <a:buFont typeface="Arial" panose="020B0604020202020204" pitchFamily="34" charset="0"/>
              <a:buChar char="•"/>
            </a:pPr>
            <a:r>
              <a:rPr lang="en-US" sz="1600" b="1" dirty="0" smtClean="0"/>
              <a:t>Average </a:t>
            </a:r>
            <a:r>
              <a:rPr lang="en-US" sz="1600" b="1" dirty="0"/>
              <a:t>Profit per KM: </a:t>
            </a:r>
            <a:r>
              <a:rPr lang="en-US" sz="1600" dirty="0"/>
              <a:t>Yellow cab’s average </a:t>
            </a:r>
            <a:r>
              <a:rPr lang="en-US" sz="1600" dirty="0" smtClean="0"/>
              <a:t>profit</a:t>
            </a:r>
            <a:r>
              <a:rPr lang="tr-TR" sz="1600" dirty="0" smtClean="0"/>
              <a:t> </a:t>
            </a:r>
            <a:r>
              <a:rPr lang="tr-TR" sz="1600" dirty="0" err="1" smtClean="0"/>
              <a:t>for</a:t>
            </a:r>
            <a:r>
              <a:rPr lang="en-US" sz="1600" dirty="0" smtClean="0"/>
              <a:t> </a:t>
            </a:r>
            <a:r>
              <a:rPr lang="en-US" sz="1600" dirty="0"/>
              <a:t>per KM is almost three times the average profit per KM of the Pink cab</a:t>
            </a:r>
            <a:r>
              <a:rPr lang="en-US" sz="1600" dirty="0" smtClean="0"/>
              <a:t>.</a:t>
            </a:r>
            <a:endParaRPr lang="tr-TR" sz="1600" dirty="0" smtClean="0"/>
          </a:p>
          <a:p>
            <a:pPr marL="285750" indent="-285750">
              <a:buFont typeface="Arial" panose="020B0604020202020204" pitchFamily="34" charset="0"/>
              <a:buChar char="•"/>
            </a:pPr>
            <a:endParaRPr lang="tr-TR" sz="1600" dirty="0"/>
          </a:p>
          <a:p>
            <a:pPr marL="285750" indent="-285750">
              <a:buFont typeface="Arial" panose="020B0604020202020204" pitchFamily="34" charset="0"/>
              <a:buChar char="•"/>
            </a:pPr>
            <a:r>
              <a:rPr lang="tr-TR" sz="1600" b="1" dirty="0"/>
              <a:t>Profit</a:t>
            </a:r>
            <a:r>
              <a:rPr lang="tr-TR" sz="1600" b="1" dirty="0" smtClean="0"/>
              <a:t>: </a:t>
            </a:r>
            <a:r>
              <a:rPr lang="en-US" sz="1600" dirty="0"/>
              <a:t>In terms of profit per </a:t>
            </a:r>
            <a:r>
              <a:rPr lang="tr-TR" sz="1600" dirty="0" smtClean="0"/>
              <a:t>KM</a:t>
            </a:r>
            <a:r>
              <a:rPr lang="en-US" sz="1600" dirty="0" smtClean="0"/>
              <a:t>, </a:t>
            </a:r>
            <a:r>
              <a:rPr lang="tr-TR" sz="1600" dirty="0" smtClean="0"/>
              <a:t>Y</a:t>
            </a:r>
            <a:r>
              <a:rPr lang="en-US" sz="1600" dirty="0" err="1" smtClean="0"/>
              <a:t>ellow</a:t>
            </a:r>
            <a:r>
              <a:rPr lang="tr-TR" sz="1600" dirty="0" smtClean="0"/>
              <a:t> </a:t>
            </a:r>
            <a:r>
              <a:rPr lang="tr-TR" sz="1600" dirty="0" err="1" smtClean="0"/>
              <a:t>Cab</a:t>
            </a:r>
            <a:r>
              <a:rPr lang="en-US" sz="1600" dirty="0" smtClean="0"/>
              <a:t> </a:t>
            </a:r>
            <a:r>
              <a:rPr lang="en-US" sz="1600" dirty="0"/>
              <a:t>periodically provides more profit than </a:t>
            </a:r>
            <a:r>
              <a:rPr lang="tr-TR" sz="1600" dirty="0"/>
              <a:t>P</a:t>
            </a:r>
            <a:r>
              <a:rPr lang="en-US" sz="1600" dirty="0" smtClean="0"/>
              <a:t>ink</a:t>
            </a:r>
            <a:r>
              <a:rPr lang="tr-TR" sz="1600" dirty="0" smtClean="0"/>
              <a:t> </a:t>
            </a:r>
            <a:r>
              <a:rPr lang="tr-TR" sz="1600" dirty="0" err="1" smtClean="0"/>
              <a:t>Cab</a:t>
            </a:r>
            <a:r>
              <a:rPr lang="en-US" sz="1600" dirty="0" smtClean="0"/>
              <a:t>.</a:t>
            </a:r>
            <a:endParaRPr lang="tr-TR" sz="1600" dirty="0" smtClean="0"/>
          </a:p>
          <a:p>
            <a:pPr marL="285750" indent="-285750">
              <a:buFont typeface="Arial" panose="020B0604020202020204" pitchFamily="34" charset="0"/>
              <a:buChar char="•"/>
            </a:pPr>
            <a:endParaRPr lang="tr-TR" sz="1600" dirty="0"/>
          </a:p>
          <a:p>
            <a:pPr marL="285750" indent="-285750">
              <a:buFont typeface="Arial" panose="020B0604020202020204" pitchFamily="34" charset="0"/>
              <a:buChar char="•"/>
            </a:pPr>
            <a:r>
              <a:rPr lang="tr-TR" sz="1600" b="1" dirty="0" err="1" smtClean="0"/>
              <a:t>Preferences</a:t>
            </a:r>
            <a:r>
              <a:rPr lang="tr-TR" sz="1600" b="1" dirty="0" smtClean="0"/>
              <a:t> </a:t>
            </a:r>
            <a:r>
              <a:rPr lang="tr-TR" sz="1600" b="1" dirty="0" err="1"/>
              <a:t>according</a:t>
            </a:r>
            <a:r>
              <a:rPr lang="tr-TR" sz="1600" b="1" dirty="0"/>
              <a:t> </a:t>
            </a:r>
            <a:r>
              <a:rPr lang="tr-TR" sz="1600" b="1" dirty="0" err="1"/>
              <a:t>to</a:t>
            </a:r>
            <a:r>
              <a:rPr lang="tr-TR" sz="1600" b="1" dirty="0"/>
              <a:t> </a:t>
            </a:r>
            <a:r>
              <a:rPr lang="tr-TR" sz="1600" b="1" dirty="0" err="1"/>
              <a:t>months</a:t>
            </a:r>
            <a:r>
              <a:rPr lang="tr-TR" sz="1600" dirty="0" smtClean="0"/>
              <a:t>: </a:t>
            </a:r>
            <a:r>
              <a:rPr lang="en-US" sz="1600" dirty="0"/>
              <a:t>In all periods of the year, </a:t>
            </a:r>
            <a:r>
              <a:rPr lang="tr-TR" sz="1600" dirty="0"/>
              <a:t>Y</a:t>
            </a:r>
            <a:r>
              <a:rPr lang="en-US" sz="1600" dirty="0" err="1" smtClean="0"/>
              <a:t>ellow</a:t>
            </a:r>
            <a:r>
              <a:rPr lang="tr-TR" sz="1600" dirty="0" smtClean="0"/>
              <a:t> </a:t>
            </a:r>
            <a:r>
              <a:rPr lang="tr-TR" sz="1600" dirty="0" err="1" smtClean="0"/>
              <a:t>Cab</a:t>
            </a:r>
            <a:r>
              <a:rPr lang="en-US" sz="1600" dirty="0" smtClean="0"/>
              <a:t> </a:t>
            </a:r>
            <a:r>
              <a:rPr lang="en-US" sz="1600" dirty="0"/>
              <a:t>is preferred more than </a:t>
            </a:r>
            <a:r>
              <a:rPr lang="tr-TR" sz="1600" dirty="0"/>
              <a:t>P</a:t>
            </a:r>
            <a:r>
              <a:rPr lang="en-US" sz="1600" dirty="0" smtClean="0"/>
              <a:t>ink</a:t>
            </a:r>
            <a:r>
              <a:rPr lang="tr-TR" sz="1600" dirty="0" smtClean="0"/>
              <a:t> </a:t>
            </a:r>
            <a:r>
              <a:rPr lang="tr-TR" sz="1600" dirty="0" err="1" smtClean="0"/>
              <a:t>Cab</a:t>
            </a:r>
            <a:r>
              <a:rPr lang="tr-TR" sz="1600" dirty="0" smtClean="0"/>
              <a:t>.</a:t>
            </a:r>
            <a:r>
              <a:rPr lang="en-US" sz="1600" dirty="0"/>
              <a:t/>
            </a:r>
            <a:br>
              <a:rPr lang="en-US" sz="1600" dirty="0"/>
            </a:br>
            <a:endParaRPr lang="en-US" sz="1600" dirty="0"/>
          </a:p>
          <a:p>
            <a:endParaRPr lang="en-US" sz="1600" dirty="0"/>
          </a:p>
          <a:p>
            <a:r>
              <a:rPr lang="tr-TR" sz="1600" b="1" dirty="0"/>
              <a:t>W</a:t>
            </a:r>
            <a:r>
              <a:rPr lang="en-US" sz="1600" b="1" dirty="0" smtClean="0"/>
              <a:t>e </a:t>
            </a:r>
            <a:r>
              <a:rPr lang="en-US" sz="1600" b="1" dirty="0"/>
              <a:t>will recommend Yellow cab for investment.</a:t>
            </a:r>
          </a:p>
          <a:p>
            <a:endParaRPr lang="en-US" sz="1600" dirty="0"/>
          </a:p>
        </p:txBody>
      </p:sp>
      <p:sp>
        <p:nvSpPr>
          <p:cNvPr id="4" name="Rectangle 3">
            <a:extLst>
              <a:ext uri="{FF2B5EF4-FFF2-40B4-BE49-F238E27FC236}">
                <a16:creationId xmlns="" xmlns:a16="http://schemas.microsoft.com/office/drawing/2014/main" id="{B2BD046D-D4D3-5C48-9D68-AE42423390A9}"/>
              </a:ext>
            </a:extLst>
          </p:cNvPr>
          <p:cNvSpPr/>
          <p:nvPr/>
        </p:nvSpPr>
        <p:spPr>
          <a:xfrm>
            <a:off x="0" y="0"/>
            <a:ext cx="12192000" cy="138391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a:solidFill>
                  <a:schemeClr val="accent2"/>
                </a:solidFill>
                <a:latin typeface="+mj-lt"/>
              </a:rPr>
              <a:t>      Recommendations</a:t>
            </a:r>
          </a:p>
        </p:txBody>
      </p:sp>
    </p:spTree>
    <p:extLst>
      <p:ext uri="{BB962C8B-B14F-4D97-AF65-F5344CB8AC3E}">
        <p14:creationId xmlns:p14="http://schemas.microsoft.com/office/powerpoint/2010/main" val="1642432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F26E-9345-4747-9094-972E38700A17}"/>
              </a:ext>
            </a:extLst>
          </p:cNvPr>
          <p:cNvSpPr>
            <a:spLocks noGrp="1"/>
          </p:cNvSpPr>
          <p:nvPr>
            <p:ph type="ctrTitle"/>
          </p:nvPr>
        </p:nvSpPr>
        <p:spPr>
          <a:xfrm rot="5400000">
            <a:off x="-562431" y="562430"/>
            <a:ext cx="6858002" cy="5733142"/>
          </a:xfrm>
          <a:solidFill>
            <a:srgbClr val="3B3B3B"/>
          </a:solidFill>
        </p:spPr>
        <p:txBody>
          <a:bodyPr vert="vert270" anchor="t" anchorCtr="0"/>
          <a:lstStyle/>
          <a:p>
            <a:pPr>
              <a:lnSpc>
                <a:spcPct val="300000"/>
              </a:lnSpc>
            </a:pPr>
            <a:endParaRPr lang="en-US" b="1" dirty="0">
              <a:solidFill>
                <a:srgbClr val="FF6600"/>
              </a:solidFill>
            </a:endParaRPr>
          </a:p>
        </p:txBody>
      </p:sp>
      <p:pic>
        <p:nvPicPr>
          <p:cNvPr id="4" name="Picture 3">
            <a:extLst>
              <a:ext uri="{FF2B5EF4-FFF2-40B4-BE49-F238E27FC236}">
                <a16:creationId xmlns="" xmlns:a16="http://schemas.microsoft.com/office/drawing/2014/main" id="{7A465064-0714-5743-882B-8875105A7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995" y="5863768"/>
            <a:ext cx="1654627" cy="994232"/>
          </a:xfrm>
          <a:prstGeom prst="rect">
            <a:avLst/>
          </a:prstGeom>
        </p:spPr>
      </p:pic>
      <p:sp>
        <p:nvSpPr>
          <p:cNvPr id="6" name="Subtitle 5">
            <a:extLst>
              <a:ext uri="{FF2B5EF4-FFF2-40B4-BE49-F238E27FC236}">
                <a16:creationId xmlns="" xmlns:a16="http://schemas.microsoft.com/office/drawing/2014/main" id="{2D4BA697-580E-5544-8F2F-194AD99B859F}"/>
              </a:ext>
            </a:extLst>
          </p:cNvPr>
          <p:cNvSpPr>
            <a:spLocks noGrp="1"/>
          </p:cNvSpPr>
          <p:nvPr>
            <p:ph type="subTitle" idx="1"/>
          </p:nvPr>
        </p:nvSpPr>
        <p:spPr>
          <a:xfrm>
            <a:off x="5152570" y="2481943"/>
            <a:ext cx="5558973" cy="1655762"/>
          </a:xfrm>
        </p:spPr>
        <p:txBody>
          <a:bodyPr>
            <a:normAutofit/>
          </a:bodyPr>
          <a:lstStyle/>
          <a:p>
            <a:r>
              <a:rPr lang="en-US" sz="6600" dirty="0">
                <a:solidFill>
                  <a:srgbClr val="FF6600"/>
                </a:solidFill>
              </a:rPr>
              <a:t>Thank You</a:t>
            </a:r>
          </a:p>
          <a:p>
            <a:endParaRPr lang="en-US" sz="6600" dirty="0">
              <a:solidFill>
                <a:srgbClr val="FF6600"/>
              </a:solidFill>
            </a:endParaRPr>
          </a:p>
        </p:txBody>
      </p:sp>
    </p:spTree>
    <p:extLst>
      <p:ext uri="{BB962C8B-B14F-4D97-AF65-F5344CB8AC3E}">
        <p14:creationId xmlns:p14="http://schemas.microsoft.com/office/powerpoint/2010/main" val="4245791816"/>
      </p:ext>
    </p:extLst>
  </p:cSld>
  <p:clrMapOvr>
    <a:masterClrMapping/>
  </p:clrMapOvr>
</p:sld>
</file>

<file path=ppt/theme/theme1.xml><?xml version="1.0" encoding="utf-8"?>
<a:theme xmlns:a="http://schemas.openxmlformats.org/drawingml/2006/main" name="Office Teması">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ta Glacier Internship" id="{2B17C0A9-4F1A-394C-9305-82F12CA26E4F}" vid="{F9955FDF-826E-7C4D-B52C-017E9540C8B9}"/>
    </a:ext>
  </a:extLst>
</a:theme>
</file>

<file path=docProps/app.xml><?xml version="1.0" encoding="utf-8"?>
<Properties xmlns="http://schemas.openxmlformats.org/officeDocument/2006/extended-properties" xmlns:vt="http://schemas.openxmlformats.org/officeDocument/2006/docPropsVTypes">
  <Template>Data Glacier Internship</Template>
  <TotalTime>439</TotalTime>
  <Words>312</Words>
  <Application>Microsoft Office PowerPoint</Application>
  <PresentationFormat>Geniş ekran</PresentationFormat>
  <Paragraphs>61</Paragraphs>
  <Slides>14</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14</vt:i4>
      </vt:variant>
    </vt:vector>
  </HeadingPairs>
  <TitlesOfParts>
    <vt:vector size="18" baseType="lpstr">
      <vt:lpstr>Arial</vt:lpstr>
      <vt:lpstr>Calibri</vt:lpstr>
      <vt:lpstr>Calibri Light</vt:lpstr>
      <vt:lpstr>Office Teması</vt:lpstr>
      <vt:lpstr>PowerPoint Sunusu</vt:lpstr>
      <vt:lpstr>Executive Summary</vt:lpstr>
      <vt:lpstr>Data Exploration</vt:lpstr>
      <vt:lpstr>Profit Analysis </vt:lpstr>
      <vt:lpstr>Profit Analysis for per km</vt:lpstr>
      <vt:lpstr>Number of users for companies</vt:lpstr>
      <vt:lpstr>Number of users in cities</vt:lpstr>
      <vt:lpstr>Profit Analysis</vt:lpstr>
      <vt:lpstr>Gender Analysis</vt:lpstr>
      <vt:lpstr>Profit Analysis</vt:lpstr>
      <vt:lpstr>Number of Users</vt:lpstr>
      <vt:lpstr>Number of Users</vt:lpstr>
      <vt:lpstr>PowerPoint Sunusu</vt:lpstr>
      <vt:lpstr>PowerPoint Sunusu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Buse Küçükçoban</dc:creator>
  <cp:lastModifiedBy>Buse Küçükçoban</cp:lastModifiedBy>
  <cp:revision>39</cp:revision>
  <dcterms:created xsi:type="dcterms:W3CDTF">2021-03-14T12:32:34Z</dcterms:created>
  <dcterms:modified xsi:type="dcterms:W3CDTF">2021-03-19T17:21:53Z</dcterms:modified>
</cp:coreProperties>
</file>